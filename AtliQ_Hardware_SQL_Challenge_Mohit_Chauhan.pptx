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9.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28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xml"/><Relationship Id="rId1" Type="http://schemas.microsoft.com/office/2011/relationships/chartStyle" Target="style1.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Relative Market Presence — APAC (Index Score)</a:t>
            </a:r>
          </a:p>
        </c:rich>
      </c:tx>
      <c:overlay val="0"/>
    </c:title>
    <c:autoTitleDeleted val="0"/>
    <c:plotArea>
      <c:layout/>
      <c:barChart>
        <c:barDir val="col"/>
        <c:grouping val="clustered"/>
        <c:varyColors val="0"/>
        <c:ser>
          <c:idx val="0"/>
          <c:order val="0"/>
          <c:tx>
            <c:strRef>
              <c:f>Sheet1!$B$1</c:f>
              <c:strCache>
                <c:ptCount val="1"/>
                <c:pt idx="0">
                  <c:v>Markets</c:v>
                </c:pt>
              </c:strCache>
            </c:strRef>
          </c:tx>
          <c:spPr>
            <a:solidFill>
              <a:srgbClr val="1B6CA8"/>
            </a:solidFill>
            <a:effectLst/>
          </c:spPr>
          <c:invertIfNegative val="0"/>
          <c:dPt>
            <c:idx val="0"/>
            <c:invertIfNegative val="0"/>
            <c:bubble3D val="0"/>
            <c:extLst>
              <c:ext xmlns:c16="http://schemas.microsoft.com/office/drawing/2014/chart" uri="{C3380CC4-5D6E-409C-BE32-E72D297353CC}">
                <c16:uniqueId val="{00000001-9D47-4C39-A990-953750B8F958}"/>
              </c:ext>
            </c:extLst>
          </c:dPt>
          <c:dPt>
            <c:idx val="1"/>
            <c:invertIfNegative val="0"/>
            <c:bubble3D val="0"/>
            <c:extLst>
              <c:ext xmlns:c16="http://schemas.microsoft.com/office/drawing/2014/chart" uri="{C3380CC4-5D6E-409C-BE32-E72D297353CC}">
                <c16:uniqueId val="{00000003-9D47-4C39-A990-953750B8F958}"/>
              </c:ext>
            </c:extLst>
          </c:dPt>
          <c:dPt>
            <c:idx val="2"/>
            <c:invertIfNegative val="0"/>
            <c:bubble3D val="0"/>
            <c:spPr>
              <a:solidFill>
                <a:srgbClr val="1E8A5E"/>
              </a:solidFill>
              <a:effectLst/>
            </c:spPr>
            <c:extLst>
              <c:ext xmlns:c16="http://schemas.microsoft.com/office/drawing/2014/chart" uri="{C3380CC4-5D6E-409C-BE32-E72D297353CC}">
                <c16:uniqueId val="{00000005-9D47-4C39-A990-953750B8F958}"/>
              </c:ext>
            </c:extLst>
          </c:dPt>
          <c:dPt>
            <c:idx val="3"/>
            <c:invertIfNegative val="0"/>
            <c:bubble3D val="0"/>
            <c:spPr>
              <a:solidFill>
                <a:srgbClr val="D4860B"/>
              </a:solidFill>
              <a:effectLst/>
            </c:spPr>
            <c:extLst>
              <c:ext xmlns:c16="http://schemas.microsoft.com/office/drawing/2014/chart" uri="{C3380CC4-5D6E-409C-BE32-E72D297353CC}">
                <c16:uniqueId val="{00000007-9D47-4C39-A990-953750B8F958}"/>
              </c:ext>
            </c:extLst>
          </c:dPt>
          <c:dPt>
            <c:idx val="4"/>
            <c:invertIfNegative val="0"/>
            <c:bubble3D val="0"/>
            <c:spPr>
              <a:solidFill>
                <a:srgbClr val="7B4FC9"/>
              </a:solidFill>
              <a:effectLst/>
            </c:spPr>
            <c:extLst>
              <c:ext xmlns:c16="http://schemas.microsoft.com/office/drawing/2014/chart" uri="{C3380CC4-5D6E-409C-BE32-E72D297353CC}">
                <c16:uniqueId val="{00000009-9D47-4C39-A990-953750B8F958}"/>
              </c:ext>
            </c:extLst>
          </c:dPt>
          <c:dPt>
            <c:idx val="5"/>
            <c:invertIfNegative val="0"/>
            <c:bubble3D val="0"/>
            <c:spPr>
              <a:solidFill>
                <a:srgbClr val="C03030"/>
              </a:solidFill>
              <a:effectLst/>
            </c:spPr>
            <c:extLst>
              <c:ext xmlns:c16="http://schemas.microsoft.com/office/drawing/2014/chart" uri="{C3380CC4-5D6E-409C-BE32-E72D297353CC}">
                <c16:uniqueId val="{0000000B-9D47-4C39-A990-953750B8F958}"/>
              </c:ext>
            </c:extLst>
          </c:dPt>
          <c:dPt>
            <c:idx val="6"/>
            <c:invertIfNegative val="0"/>
            <c:bubble3D val="0"/>
            <c:spPr>
              <a:solidFill>
                <a:srgbClr val="0A8B9D"/>
              </a:solidFill>
              <a:effectLst/>
            </c:spPr>
            <c:extLst>
              <c:ext xmlns:c16="http://schemas.microsoft.com/office/drawing/2014/chart" uri="{C3380CC4-5D6E-409C-BE32-E72D297353CC}">
                <c16:uniqueId val="{0000000D-9D47-4C39-A990-953750B8F958}"/>
              </c:ext>
            </c:extLst>
          </c:dPt>
          <c:dPt>
            <c:idx val="7"/>
            <c:invertIfNegative val="0"/>
            <c:bubble3D val="0"/>
            <c:spPr>
              <a:solidFill>
                <a:srgbClr val="7A90B0"/>
              </a:solidFill>
              <a:effectLst/>
            </c:spPr>
            <c:extLst>
              <c:ext xmlns:c16="http://schemas.microsoft.com/office/drawing/2014/chart" uri="{C3380CC4-5D6E-409C-BE32-E72D297353CC}">
                <c16:uniqueId val="{0000000F-9D47-4C39-A990-953750B8F958}"/>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India</c:v>
                </c:pt>
                <c:pt idx="1">
                  <c:v>Indonesia</c:v>
                </c:pt>
                <c:pt idx="2">
                  <c:v>Japan</c:v>
                </c:pt>
                <c:pt idx="3">
                  <c:v>Philippines</c:v>
                </c:pt>
                <c:pt idx="4">
                  <c:v>S.Korea</c:v>
                </c:pt>
                <c:pt idx="5">
                  <c:v>Australia</c:v>
                </c:pt>
                <c:pt idx="6">
                  <c:v>New Zealand</c:v>
                </c:pt>
                <c:pt idx="7">
                  <c:v>Bangladesh</c:v>
                </c:pt>
              </c:strCache>
            </c:strRef>
          </c:cat>
          <c:val>
            <c:numRef>
              <c:f>Sheet1!$B$2:$B$9</c:f>
              <c:numCache>
                <c:formatCode>General</c:formatCode>
                <c:ptCount val="8"/>
                <c:pt idx="0">
                  <c:v>100</c:v>
                </c:pt>
                <c:pt idx="1">
                  <c:v>72</c:v>
                </c:pt>
                <c:pt idx="2">
                  <c:v>65</c:v>
                </c:pt>
                <c:pt idx="3">
                  <c:v>45</c:v>
                </c:pt>
                <c:pt idx="4">
                  <c:v>60</c:v>
                </c:pt>
                <c:pt idx="5">
                  <c:v>58</c:v>
                </c:pt>
                <c:pt idx="6">
                  <c:v>48</c:v>
                </c:pt>
                <c:pt idx="7">
                  <c:v>30</c:v>
                </c:pt>
              </c:numCache>
            </c:numRef>
          </c:val>
          <c:extLst>
            <c:ext xmlns:c16="http://schemas.microsoft.com/office/drawing/2014/chart" uri="{C3380CC4-5D6E-409C-BE32-E72D297353CC}">
              <c16:uniqueId val="{00000010-9D47-4C39-A990-953750B8F95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Unique Products: FY2020 vs FY2021</a:t>
            </a:r>
          </a:p>
        </c:rich>
      </c:tx>
      <c:overlay val="0"/>
    </c:title>
    <c:autoTitleDeleted val="0"/>
    <c:plotArea>
      <c:layout/>
      <c:barChart>
        <c:barDir val="col"/>
        <c:grouping val="clustered"/>
        <c:varyColors val="0"/>
        <c:ser>
          <c:idx val="0"/>
          <c:order val="0"/>
          <c:tx>
            <c:strRef>
              <c:f>Sheet1!$B$1</c:f>
              <c:strCache>
                <c:ptCount val="1"/>
                <c:pt idx="0">
                  <c:v>Products</c:v>
                </c:pt>
              </c:strCache>
            </c:strRef>
          </c:tx>
          <c:spPr>
            <a:solidFill>
              <a:srgbClr val="1E8A5E"/>
            </a:solidFill>
            <a:effectLst/>
          </c:spPr>
          <c:invertIfNegative val="0"/>
          <c:dPt>
            <c:idx val="0"/>
            <c:invertIfNegative val="0"/>
            <c:bubble3D val="0"/>
            <c:extLst>
              <c:ext xmlns:c16="http://schemas.microsoft.com/office/drawing/2014/chart" uri="{C3380CC4-5D6E-409C-BE32-E72D297353CC}">
                <c16:uniqueId val="{00000001-E246-4DCC-A36B-CD0F44C46C70}"/>
              </c:ext>
            </c:extLst>
          </c:dPt>
          <c:dPt>
            <c:idx val="1"/>
            <c:invertIfNegative val="0"/>
            <c:bubble3D val="0"/>
            <c:spPr>
              <a:solidFill>
                <a:srgbClr val="1B6CA8"/>
              </a:solidFill>
              <a:effectLst/>
            </c:spPr>
            <c:extLst>
              <c:ext xmlns:c16="http://schemas.microsoft.com/office/drawing/2014/chart" uri="{C3380CC4-5D6E-409C-BE32-E72D297353CC}">
                <c16:uniqueId val="{00000003-E246-4DCC-A36B-CD0F44C46C70}"/>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FY2020</c:v>
                </c:pt>
                <c:pt idx="1">
                  <c:v>FY2021</c:v>
                </c:pt>
              </c:strCache>
            </c:strRef>
          </c:cat>
          <c:val>
            <c:numRef>
              <c:f>Sheet1!$B$2:$B$3</c:f>
              <c:numCache>
                <c:formatCode>General</c:formatCode>
                <c:ptCount val="2"/>
                <c:pt idx="0">
                  <c:v>245</c:v>
                </c:pt>
                <c:pt idx="1">
                  <c:v>334</c:v>
                </c:pt>
              </c:numCache>
            </c:numRef>
          </c:val>
          <c:extLst>
            <c:ext xmlns:c16="http://schemas.microsoft.com/office/drawing/2014/chart" uri="{C3380CC4-5D6E-409C-BE32-E72D297353CC}">
              <c16:uniqueId val="{00000004-E246-4DCC-A36B-CD0F44C46C7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Product Count by Segment</a:t>
            </a:r>
          </a:p>
        </c:rich>
      </c:tx>
      <c:overlay val="0"/>
    </c:title>
    <c:autoTitleDeleted val="0"/>
    <c:plotArea>
      <c:layout/>
      <c:barChart>
        <c:barDir val="col"/>
        <c:grouping val="clustered"/>
        <c:varyColors val="0"/>
        <c:ser>
          <c:idx val="0"/>
          <c:order val="0"/>
          <c:tx>
            <c:strRef>
              <c:f>Sheet1!$B$1</c:f>
              <c:strCache>
                <c:ptCount val="1"/>
                <c:pt idx="0">
                  <c:v>Count</c:v>
                </c:pt>
              </c:strCache>
            </c:strRef>
          </c:tx>
          <c:spPr>
            <a:solidFill>
              <a:srgbClr val="D4860B"/>
            </a:solidFill>
            <a:effectLst/>
          </c:spPr>
          <c:invertIfNegative val="0"/>
          <c:dPt>
            <c:idx val="0"/>
            <c:invertIfNegative val="0"/>
            <c:bubble3D val="0"/>
            <c:extLst>
              <c:ext xmlns:c16="http://schemas.microsoft.com/office/drawing/2014/chart" uri="{C3380CC4-5D6E-409C-BE32-E72D297353CC}">
                <c16:uniqueId val="{00000001-0AC2-4149-8E9B-A579E4DFD6F1}"/>
              </c:ext>
            </c:extLst>
          </c:dPt>
          <c:dPt>
            <c:idx val="1"/>
            <c:invertIfNegative val="0"/>
            <c:bubble3D val="0"/>
            <c:spPr>
              <a:solidFill>
                <a:srgbClr val="1B6CA8"/>
              </a:solidFill>
              <a:effectLst/>
            </c:spPr>
            <c:extLst>
              <c:ext xmlns:c16="http://schemas.microsoft.com/office/drawing/2014/chart" uri="{C3380CC4-5D6E-409C-BE32-E72D297353CC}">
                <c16:uniqueId val="{00000003-0AC2-4149-8E9B-A579E4DFD6F1}"/>
              </c:ext>
            </c:extLst>
          </c:dPt>
          <c:dPt>
            <c:idx val="2"/>
            <c:invertIfNegative val="0"/>
            <c:bubble3D val="0"/>
            <c:spPr>
              <a:solidFill>
                <a:srgbClr val="1E8A5E"/>
              </a:solidFill>
              <a:effectLst/>
            </c:spPr>
            <c:extLst>
              <c:ext xmlns:c16="http://schemas.microsoft.com/office/drawing/2014/chart" uri="{C3380CC4-5D6E-409C-BE32-E72D297353CC}">
                <c16:uniqueId val="{00000005-0AC2-4149-8E9B-A579E4DFD6F1}"/>
              </c:ext>
            </c:extLst>
          </c:dPt>
          <c:dPt>
            <c:idx val="3"/>
            <c:invertIfNegative val="0"/>
            <c:bubble3D val="0"/>
            <c:extLst>
              <c:ext xmlns:c16="http://schemas.microsoft.com/office/drawing/2014/chart" uri="{C3380CC4-5D6E-409C-BE32-E72D297353CC}">
                <c16:uniqueId val="{00000007-0AC2-4149-8E9B-A579E4DFD6F1}"/>
              </c:ext>
            </c:extLst>
          </c:dPt>
          <c:dPt>
            <c:idx val="4"/>
            <c:invertIfNegative val="0"/>
            <c:bubble3D val="0"/>
            <c:spPr>
              <a:solidFill>
                <a:srgbClr val="7B4FC9"/>
              </a:solidFill>
              <a:effectLst/>
            </c:spPr>
            <c:extLst>
              <c:ext xmlns:c16="http://schemas.microsoft.com/office/drawing/2014/chart" uri="{C3380CC4-5D6E-409C-BE32-E72D297353CC}">
                <c16:uniqueId val="{00000009-0AC2-4149-8E9B-A579E4DFD6F1}"/>
              </c:ext>
            </c:extLst>
          </c:dPt>
          <c:dPt>
            <c:idx val="5"/>
            <c:invertIfNegative val="0"/>
            <c:bubble3D val="0"/>
            <c:spPr>
              <a:solidFill>
                <a:srgbClr val="C03030"/>
              </a:solidFill>
              <a:effectLst/>
            </c:spPr>
            <c:extLst>
              <c:ext xmlns:c16="http://schemas.microsoft.com/office/drawing/2014/chart" uri="{C3380CC4-5D6E-409C-BE32-E72D297353CC}">
                <c16:uniqueId val="{0000000B-0AC2-4149-8E9B-A579E4DFD6F1}"/>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Notebook</c:v>
                </c:pt>
                <c:pt idx="1">
                  <c:v>Accessories</c:v>
                </c:pt>
                <c:pt idx="2">
                  <c:v>Peripherals</c:v>
                </c:pt>
                <c:pt idx="3">
                  <c:v>Desktop</c:v>
                </c:pt>
                <c:pt idx="4">
                  <c:v>Storage</c:v>
                </c:pt>
                <c:pt idx="5">
                  <c:v>Networking</c:v>
                </c:pt>
              </c:strCache>
            </c:strRef>
          </c:cat>
          <c:val>
            <c:numRef>
              <c:f>Sheet1!$B$2:$B$7</c:f>
              <c:numCache>
                <c:formatCode>General</c:formatCode>
                <c:ptCount val="6"/>
                <c:pt idx="0">
                  <c:v>129</c:v>
                </c:pt>
                <c:pt idx="1">
                  <c:v>116</c:v>
                </c:pt>
                <c:pt idx="2">
                  <c:v>84</c:v>
                </c:pt>
                <c:pt idx="3">
                  <c:v>32</c:v>
                </c:pt>
                <c:pt idx="4">
                  <c:v>27</c:v>
                </c:pt>
                <c:pt idx="5">
                  <c:v>9</c:v>
                </c:pt>
              </c:numCache>
            </c:numRef>
          </c:val>
          <c:extLst>
            <c:ext xmlns:c16="http://schemas.microsoft.com/office/drawing/2014/chart" uri="{C3380CC4-5D6E-409C-BE32-E72D297353CC}">
              <c16:uniqueId val="{0000000C-0AC2-4149-8E9B-A579E4DFD6F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New Products Added in FY2021 by Segment</a:t>
            </a:r>
          </a:p>
        </c:rich>
      </c:tx>
      <c:overlay val="0"/>
    </c:title>
    <c:autoTitleDeleted val="0"/>
    <c:plotArea>
      <c:layout/>
      <c:barChart>
        <c:barDir val="col"/>
        <c:grouping val="clustered"/>
        <c:varyColors val="0"/>
        <c:ser>
          <c:idx val="0"/>
          <c:order val="0"/>
          <c:tx>
            <c:strRef>
              <c:f>Sheet1!$B$1</c:f>
              <c:strCache>
                <c:ptCount val="1"/>
                <c:pt idx="0">
                  <c:v>New Products</c:v>
                </c:pt>
              </c:strCache>
            </c:strRef>
          </c:tx>
          <c:spPr>
            <a:solidFill>
              <a:srgbClr val="7B4FC9"/>
            </a:solidFill>
            <a:effectLst/>
          </c:spPr>
          <c:invertIfNegative val="0"/>
          <c:dPt>
            <c:idx val="0"/>
            <c:invertIfNegative val="0"/>
            <c:bubble3D val="0"/>
            <c:extLst>
              <c:ext xmlns:c16="http://schemas.microsoft.com/office/drawing/2014/chart" uri="{C3380CC4-5D6E-409C-BE32-E72D297353CC}">
                <c16:uniqueId val="{00000001-6C53-4999-A8E8-A5AC893C0505}"/>
              </c:ext>
            </c:extLst>
          </c:dPt>
          <c:dPt>
            <c:idx val="1"/>
            <c:invertIfNegative val="0"/>
            <c:bubble3D val="0"/>
            <c:spPr>
              <a:solidFill>
                <a:srgbClr val="1B6CA8"/>
              </a:solidFill>
              <a:effectLst/>
            </c:spPr>
            <c:extLst>
              <c:ext xmlns:c16="http://schemas.microsoft.com/office/drawing/2014/chart" uri="{C3380CC4-5D6E-409C-BE32-E72D297353CC}">
                <c16:uniqueId val="{00000003-6C53-4999-A8E8-A5AC893C0505}"/>
              </c:ext>
            </c:extLst>
          </c:dPt>
          <c:dPt>
            <c:idx val="2"/>
            <c:invertIfNegative val="0"/>
            <c:bubble3D val="0"/>
            <c:spPr>
              <a:solidFill>
                <a:srgbClr val="1E8A5E"/>
              </a:solidFill>
              <a:effectLst/>
            </c:spPr>
            <c:extLst>
              <c:ext xmlns:c16="http://schemas.microsoft.com/office/drawing/2014/chart" uri="{C3380CC4-5D6E-409C-BE32-E72D297353CC}">
                <c16:uniqueId val="{00000005-6C53-4999-A8E8-A5AC893C0505}"/>
              </c:ext>
            </c:extLst>
          </c:dPt>
          <c:dPt>
            <c:idx val="3"/>
            <c:invertIfNegative val="0"/>
            <c:bubble3D val="0"/>
            <c:spPr>
              <a:solidFill>
                <a:srgbClr val="D4860B"/>
              </a:solidFill>
              <a:effectLst/>
            </c:spPr>
            <c:extLst>
              <c:ext xmlns:c16="http://schemas.microsoft.com/office/drawing/2014/chart" uri="{C3380CC4-5D6E-409C-BE32-E72D297353CC}">
                <c16:uniqueId val="{00000007-6C53-4999-A8E8-A5AC893C0505}"/>
              </c:ext>
            </c:extLst>
          </c:dPt>
          <c:dPt>
            <c:idx val="4"/>
            <c:invertIfNegative val="0"/>
            <c:bubble3D val="0"/>
            <c:extLst>
              <c:ext xmlns:c16="http://schemas.microsoft.com/office/drawing/2014/chart" uri="{C3380CC4-5D6E-409C-BE32-E72D297353CC}">
                <c16:uniqueId val="{00000009-6C53-4999-A8E8-A5AC893C0505}"/>
              </c:ext>
            </c:extLst>
          </c:dPt>
          <c:dPt>
            <c:idx val="5"/>
            <c:invertIfNegative val="0"/>
            <c:bubble3D val="0"/>
            <c:spPr>
              <a:solidFill>
                <a:srgbClr val="C03030"/>
              </a:solidFill>
              <a:effectLst/>
            </c:spPr>
            <c:extLst>
              <c:ext xmlns:c16="http://schemas.microsoft.com/office/drawing/2014/chart" uri="{C3380CC4-5D6E-409C-BE32-E72D297353CC}">
                <c16:uniqueId val="{0000000B-6C53-4999-A8E8-A5AC893C0505}"/>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Accessories</c:v>
                </c:pt>
                <c:pt idx="1">
                  <c:v>Notebook</c:v>
                </c:pt>
                <c:pt idx="2">
                  <c:v>Peripherals</c:v>
                </c:pt>
                <c:pt idx="3">
                  <c:v>Desktop</c:v>
                </c:pt>
                <c:pt idx="4">
                  <c:v>Storage</c:v>
                </c:pt>
                <c:pt idx="5">
                  <c:v>Networking</c:v>
                </c:pt>
              </c:strCache>
            </c:strRef>
          </c:cat>
          <c:val>
            <c:numRef>
              <c:f>Sheet1!$B$2:$B$7</c:f>
              <c:numCache>
                <c:formatCode>General</c:formatCode>
                <c:ptCount val="6"/>
                <c:pt idx="0">
                  <c:v>34</c:v>
                </c:pt>
                <c:pt idx="1">
                  <c:v>16</c:v>
                </c:pt>
                <c:pt idx="2">
                  <c:v>16</c:v>
                </c:pt>
                <c:pt idx="3">
                  <c:v>15</c:v>
                </c:pt>
                <c:pt idx="4">
                  <c:v>5</c:v>
                </c:pt>
                <c:pt idx="5">
                  <c:v>3</c:v>
                </c:pt>
              </c:numCache>
            </c:numRef>
          </c:val>
          <c:extLst>
            <c:ext xmlns:c16="http://schemas.microsoft.com/office/drawing/2014/chart" uri="{C3380CC4-5D6E-409C-BE32-E72D297353CC}">
              <c16:uniqueId val="{0000000C-6C53-4999-A8E8-A5AC893C05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Manufacturing Cost Comparison (₹/unit)</a:t>
            </a:r>
          </a:p>
        </c:rich>
      </c:tx>
      <c:overlay val="0"/>
    </c:title>
    <c:autoTitleDeleted val="0"/>
    <c:plotArea>
      <c:layout/>
      <c:barChart>
        <c:barDir val="col"/>
        <c:grouping val="clustered"/>
        <c:varyColors val="0"/>
        <c:ser>
          <c:idx val="0"/>
          <c:order val="0"/>
          <c:tx>
            <c:strRef>
              <c:f>Sheet1!$B$1</c:f>
              <c:strCache>
                <c:ptCount val="1"/>
                <c:pt idx="0">
                  <c:v>Cost ₹</c:v>
                </c:pt>
              </c:strCache>
            </c:strRef>
          </c:tx>
          <c:spPr>
            <a:solidFill>
              <a:srgbClr val="C03030"/>
            </a:solidFill>
            <a:effectLst/>
          </c:spPr>
          <c:invertIfNegative val="0"/>
          <c:dPt>
            <c:idx val="0"/>
            <c:invertIfNegative val="0"/>
            <c:bubble3D val="0"/>
            <c:extLst>
              <c:ext xmlns:c16="http://schemas.microsoft.com/office/drawing/2014/chart" uri="{C3380CC4-5D6E-409C-BE32-E72D297353CC}">
                <c16:uniqueId val="{00000001-1E84-4812-B90C-A1933ED77560}"/>
              </c:ext>
            </c:extLst>
          </c:dPt>
          <c:dPt>
            <c:idx val="1"/>
            <c:invertIfNegative val="0"/>
            <c:bubble3D val="0"/>
            <c:spPr>
              <a:solidFill>
                <a:srgbClr val="1B6CA8"/>
              </a:solidFill>
              <a:effectLst/>
            </c:spPr>
            <c:extLst>
              <c:ext xmlns:c16="http://schemas.microsoft.com/office/drawing/2014/chart" uri="{C3380CC4-5D6E-409C-BE32-E72D297353CC}">
                <c16:uniqueId val="{00000003-1E84-4812-B90C-A1933ED77560}"/>
              </c:ext>
            </c:extLst>
          </c:dPt>
          <c:dPt>
            <c:idx val="2"/>
            <c:invertIfNegative val="0"/>
            <c:bubble3D val="0"/>
            <c:spPr>
              <a:solidFill>
                <a:srgbClr val="1E8A5E"/>
              </a:solidFill>
              <a:effectLst/>
            </c:spPr>
            <c:extLst>
              <c:ext xmlns:c16="http://schemas.microsoft.com/office/drawing/2014/chart" uri="{C3380CC4-5D6E-409C-BE32-E72D297353CC}">
                <c16:uniqueId val="{00000005-1E84-4812-B90C-A1933ED77560}"/>
              </c:ext>
            </c:extLst>
          </c:dPt>
          <c:dPt>
            <c:idx val="3"/>
            <c:invertIfNegative val="0"/>
            <c:bubble3D val="0"/>
            <c:spPr>
              <a:solidFill>
                <a:srgbClr val="D4860B"/>
              </a:solidFill>
              <a:effectLst/>
            </c:spPr>
            <c:extLst>
              <c:ext xmlns:c16="http://schemas.microsoft.com/office/drawing/2014/chart" uri="{C3380CC4-5D6E-409C-BE32-E72D297353CC}">
                <c16:uniqueId val="{00000007-1E84-4812-B90C-A1933ED77560}"/>
              </c:ext>
            </c:extLst>
          </c:dPt>
          <c:dPt>
            <c:idx val="4"/>
            <c:invertIfNegative val="0"/>
            <c:bubble3D val="0"/>
            <c:spPr>
              <a:solidFill>
                <a:srgbClr val="7B4FC9"/>
              </a:solidFill>
              <a:effectLst/>
            </c:spPr>
            <c:extLst>
              <c:ext xmlns:c16="http://schemas.microsoft.com/office/drawing/2014/chart" uri="{C3380CC4-5D6E-409C-BE32-E72D297353CC}">
                <c16:uniqueId val="{00000009-1E84-4812-B90C-A1933ED77560}"/>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AQ HOME Allout 9 Pro</c:v>
                </c:pt>
                <c:pt idx="1">
                  <c:v>AQ Smash 1</c:v>
                </c:pt>
                <c:pt idx="2">
                  <c:v>AQ Pen Drive Plus 2</c:v>
                </c:pt>
                <c:pt idx="3">
                  <c:v>AQ Digit SSD</c:v>
                </c:pt>
                <c:pt idx="4">
                  <c:v>AQ Master Wired x1 Ms</c:v>
                </c:pt>
              </c:strCache>
            </c:strRef>
          </c:cat>
          <c:val>
            <c:numRef>
              <c:f>Sheet1!$B$2:$B$6</c:f>
              <c:numCache>
                <c:formatCode>General</c:formatCode>
                <c:ptCount val="5"/>
                <c:pt idx="0">
                  <c:v>240.54</c:v>
                </c:pt>
                <c:pt idx="1">
                  <c:v>180.32</c:v>
                </c:pt>
                <c:pt idx="2">
                  <c:v>95.1</c:v>
                </c:pt>
                <c:pt idx="3">
                  <c:v>70.25</c:v>
                </c:pt>
                <c:pt idx="4">
                  <c:v>0.89</c:v>
                </c:pt>
              </c:numCache>
            </c:numRef>
          </c:val>
          <c:extLst>
            <c:ext xmlns:c16="http://schemas.microsoft.com/office/drawing/2014/chart" uri="{C3380CC4-5D6E-409C-BE32-E72D297353CC}">
              <c16:uniqueId val="{0000000A-1E84-4812-B90C-A1933ED775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Avg Pre-Invoice Discount % — Top 5 Indian Customers (FY2021)</a:t>
            </a:r>
          </a:p>
        </c:rich>
      </c:tx>
      <c:overlay val="0"/>
    </c:title>
    <c:autoTitleDeleted val="0"/>
    <c:plotArea>
      <c:layout/>
      <c:barChart>
        <c:barDir val="col"/>
        <c:grouping val="clustered"/>
        <c:varyColors val="0"/>
        <c:ser>
          <c:idx val="0"/>
          <c:order val="0"/>
          <c:tx>
            <c:strRef>
              <c:f>Sheet1!$B$1</c:f>
              <c:strCache>
                <c:ptCount val="1"/>
                <c:pt idx="0">
                  <c:v>Discount %</c:v>
                </c:pt>
              </c:strCache>
            </c:strRef>
          </c:tx>
          <c:spPr>
            <a:solidFill>
              <a:srgbClr val="0A8B9D"/>
            </a:solidFill>
            <a:effectLst/>
          </c:spPr>
          <c:invertIfNegative val="0"/>
          <c:dPt>
            <c:idx val="0"/>
            <c:invertIfNegative val="0"/>
            <c:bubble3D val="0"/>
            <c:extLst>
              <c:ext xmlns:c16="http://schemas.microsoft.com/office/drawing/2014/chart" uri="{C3380CC4-5D6E-409C-BE32-E72D297353CC}">
                <c16:uniqueId val="{00000001-26B6-402D-A00B-C36D85A32C4A}"/>
              </c:ext>
            </c:extLst>
          </c:dPt>
          <c:dPt>
            <c:idx val="1"/>
            <c:invertIfNegative val="0"/>
            <c:bubble3D val="0"/>
            <c:spPr>
              <a:solidFill>
                <a:srgbClr val="1B6CA8"/>
              </a:solidFill>
              <a:effectLst/>
            </c:spPr>
            <c:extLst>
              <c:ext xmlns:c16="http://schemas.microsoft.com/office/drawing/2014/chart" uri="{C3380CC4-5D6E-409C-BE32-E72D297353CC}">
                <c16:uniqueId val="{00000003-26B6-402D-A00B-C36D85A32C4A}"/>
              </c:ext>
            </c:extLst>
          </c:dPt>
          <c:dPt>
            <c:idx val="2"/>
            <c:invertIfNegative val="0"/>
            <c:bubble3D val="0"/>
            <c:spPr>
              <a:solidFill>
                <a:srgbClr val="1E8A5E"/>
              </a:solidFill>
              <a:effectLst/>
            </c:spPr>
            <c:extLst>
              <c:ext xmlns:c16="http://schemas.microsoft.com/office/drawing/2014/chart" uri="{C3380CC4-5D6E-409C-BE32-E72D297353CC}">
                <c16:uniqueId val="{00000005-26B6-402D-A00B-C36D85A32C4A}"/>
              </c:ext>
            </c:extLst>
          </c:dPt>
          <c:dPt>
            <c:idx val="3"/>
            <c:invertIfNegative val="0"/>
            <c:bubble3D val="0"/>
            <c:spPr>
              <a:solidFill>
                <a:srgbClr val="D4860B"/>
              </a:solidFill>
              <a:effectLst/>
            </c:spPr>
            <c:extLst>
              <c:ext xmlns:c16="http://schemas.microsoft.com/office/drawing/2014/chart" uri="{C3380CC4-5D6E-409C-BE32-E72D297353CC}">
                <c16:uniqueId val="{00000007-26B6-402D-A00B-C36D85A32C4A}"/>
              </c:ext>
            </c:extLst>
          </c:dPt>
          <c:dPt>
            <c:idx val="4"/>
            <c:invertIfNegative val="0"/>
            <c:bubble3D val="0"/>
            <c:spPr>
              <a:solidFill>
                <a:srgbClr val="7B4FC9"/>
              </a:solidFill>
              <a:effectLst/>
            </c:spPr>
            <c:extLst>
              <c:ext xmlns:c16="http://schemas.microsoft.com/office/drawing/2014/chart" uri="{C3380CC4-5D6E-409C-BE32-E72D297353CC}">
                <c16:uniqueId val="{00000009-26B6-402D-A00B-C36D85A32C4A}"/>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Flipkart</c:v>
                </c:pt>
                <c:pt idx="1">
                  <c:v>Viveks</c:v>
                </c:pt>
                <c:pt idx="2">
                  <c:v>Ezone</c:v>
                </c:pt>
                <c:pt idx="3">
                  <c:v>Croma</c:v>
                </c:pt>
                <c:pt idx="4">
                  <c:v>Amazon</c:v>
                </c:pt>
              </c:strCache>
            </c:strRef>
          </c:cat>
          <c:val>
            <c:numRef>
              <c:f>Sheet1!$B$2:$B$6</c:f>
              <c:numCache>
                <c:formatCode>General</c:formatCode>
                <c:ptCount val="5"/>
                <c:pt idx="0">
                  <c:v>30.83</c:v>
                </c:pt>
                <c:pt idx="1">
                  <c:v>30.38</c:v>
                </c:pt>
                <c:pt idx="2">
                  <c:v>30.28</c:v>
                </c:pt>
                <c:pt idx="3">
                  <c:v>30.25</c:v>
                </c:pt>
                <c:pt idx="4">
                  <c:v>29.33</c:v>
                </c:pt>
              </c:numCache>
            </c:numRef>
          </c:val>
          <c:extLst>
            <c:ext xmlns:c16="http://schemas.microsoft.com/office/drawing/2014/chart" uri="{C3380CC4-5D6E-409C-BE32-E72D297353CC}">
              <c16:uniqueId val="{0000000A-26B6-402D-A00B-C36D85A32C4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Total Sold Quantity by Quarter — FY2020 (Millions)</a:t>
            </a:r>
          </a:p>
        </c:rich>
      </c:tx>
      <c:overlay val="0"/>
    </c:title>
    <c:autoTitleDeleted val="0"/>
    <c:plotArea>
      <c:layout/>
      <c:barChart>
        <c:barDir val="col"/>
        <c:grouping val="clustered"/>
        <c:varyColors val="0"/>
        <c:ser>
          <c:idx val="0"/>
          <c:order val="0"/>
          <c:tx>
            <c:strRef>
              <c:f>Sheet1!$B$1</c:f>
              <c:strCache>
                <c:ptCount val="1"/>
                <c:pt idx="0">
                  <c:v>Units Sold (M)</c:v>
                </c:pt>
              </c:strCache>
            </c:strRef>
          </c:tx>
          <c:spPr>
            <a:solidFill>
              <a:srgbClr val="1B6CA8"/>
            </a:solidFill>
            <a:effectLst/>
          </c:spPr>
          <c:invertIfNegative val="0"/>
          <c:dPt>
            <c:idx val="0"/>
            <c:invertIfNegative val="0"/>
            <c:bubble3D val="0"/>
            <c:extLst>
              <c:ext xmlns:c16="http://schemas.microsoft.com/office/drawing/2014/chart" uri="{C3380CC4-5D6E-409C-BE32-E72D297353CC}">
                <c16:uniqueId val="{00000001-EAE7-455A-BEE9-3D0A86A8BD1F}"/>
              </c:ext>
            </c:extLst>
          </c:dPt>
          <c:dPt>
            <c:idx val="1"/>
            <c:invertIfNegative val="0"/>
            <c:bubble3D val="0"/>
            <c:extLst>
              <c:ext xmlns:c16="http://schemas.microsoft.com/office/drawing/2014/chart" uri="{C3380CC4-5D6E-409C-BE32-E72D297353CC}">
                <c16:uniqueId val="{00000003-EAE7-455A-BEE9-3D0A86A8BD1F}"/>
              </c:ext>
            </c:extLst>
          </c:dPt>
          <c:dPt>
            <c:idx val="2"/>
            <c:invertIfNegative val="0"/>
            <c:bubble3D val="0"/>
            <c:spPr>
              <a:solidFill>
                <a:srgbClr val="1E8A5E"/>
              </a:solidFill>
              <a:effectLst/>
            </c:spPr>
            <c:extLst>
              <c:ext xmlns:c16="http://schemas.microsoft.com/office/drawing/2014/chart" uri="{C3380CC4-5D6E-409C-BE32-E72D297353CC}">
                <c16:uniqueId val="{00000005-EAE7-455A-BEE9-3D0A86A8BD1F}"/>
              </c:ext>
            </c:extLst>
          </c:dPt>
          <c:dPt>
            <c:idx val="3"/>
            <c:invertIfNegative val="0"/>
            <c:bubble3D val="0"/>
            <c:spPr>
              <a:solidFill>
                <a:srgbClr val="D4860B"/>
              </a:solidFill>
              <a:effectLst/>
            </c:spPr>
            <c:extLst>
              <c:ext xmlns:c16="http://schemas.microsoft.com/office/drawing/2014/chart" uri="{C3380CC4-5D6E-409C-BE32-E72D297353CC}">
                <c16:uniqueId val="{00000007-EAE7-455A-BEE9-3D0A86A8BD1F}"/>
              </c:ext>
            </c:extLst>
          </c:dPt>
          <c:dLbls>
            <c:numFmt formatCode="#,##0" sourceLinked="0"/>
            <c:spPr>
              <a:noFill/>
              <a:ln>
                <a:noFill/>
              </a:ln>
              <a:effectLst/>
            </c:spPr>
            <c:txPr>
              <a:bodyPr/>
              <a:lstStyle/>
              <a:p>
                <a:pPr>
                  <a:defRPr sz="8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 (Sep–Nov)</c:v>
                </c:pt>
                <c:pt idx="1">
                  <c:v>Q2 (Dec–Feb)</c:v>
                </c:pt>
                <c:pt idx="2">
                  <c:v>Q3 (Mar–May)</c:v>
                </c:pt>
                <c:pt idx="3">
                  <c:v>Q4 (Jun–Aug)</c:v>
                </c:pt>
              </c:strCache>
            </c:strRef>
          </c:cat>
          <c:val>
            <c:numRef>
              <c:f>Sheet1!$B$2:$B$5</c:f>
              <c:numCache>
                <c:formatCode>General</c:formatCode>
                <c:ptCount val="4"/>
                <c:pt idx="0">
                  <c:v>7.01</c:v>
                </c:pt>
                <c:pt idx="1">
                  <c:v>6.65</c:v>
                </c:pt>
                <c:pt idx="2">
                  <c:v>2.08</c:v>
                </c:pt>
                <c:pt idx="3">
                  <c:v>5.04</c:v>
                </c:pt>
              </c:numCache>
            </c:numRef>
          </c:val>
          <c:extLst>
            <c:ext xmlns:c16="http://schemas.microsoft.com/office/drawing/2014/chart" uri="{C3380CC4-5D6E-409C-BE32-E72D297353CC}">
              <c16:uniqueId val="{00000008-EAE7-455A-BEE9-3D0A86A8BD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a:t>Gross Sales by Channel — FY2021</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Channel</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0EF7-4256-BEAA-4ED64C447AE3}"/>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0EF7-4256-BEAA-4ED64C447AE3}"/>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0EF7-4256-BEAA-4ED64C447AE3}"/>
              </c:ext>
            </c:extLst>
          </c:dPt>
          <c:dLbls>
            <c:dLbl>
              <c:idx val="0"/>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EF7-4256-BEAA-4ED64C447AE3}"/>
                </c:ext>
              </c:extLst>
            </c:dLbl>
            <c:dLbl>
              <c:idx val="1"/>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EF7-4256-BEAA-4ED64C447AE3}"/>
                </c:ext>
              </c:extLst>
            </c:dLbl>
            <c:dLbl>
              <c:idx val="2"/>
              <c:dLblPos val="in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EF7-4256-BEAA-4ED64C447AE3}"/>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Retailer</c:v>
                </c:pt>
                <c:pt idx="1">
                  <c:v>Direct</c:v>
                </c:pt>
                <c:pt idx="2">
                  <c:v>Distributor</c:v>
                </c:pt>
              </c:strCache>
            </c:strRef>
          </c:cat>
          <c:val>
            <c:numRef>
              <c:f>Sheet1!$B$2:$B$4</c:f>
              <c:numCache>
                <c:formatCode>General</c:formatCode>
                <c:ptCount val="3"/>
                <c:pt idx="0">
                  <c:v>73.2</c:v>
                </c:pt>
                <c:pt idx="1">
                  <c:v>15.5</c:v>
                </c:pt>
                <c:pt idx="2">
                  <c:v>11.3</c:v>
                </c:pt>
              </c:numCache>
            </c:numRef>
          </c:val>
          <c:extLst>
            <c:ext xmlns:c16="http://schemas.microsoft.com/office/drawing/2014/chart" uri="{C3380CC4-5D6E-409C-BE32-E72D297353CC}">
              <c16:uniqueId val="{00000006-0EF7-4256-BEAA-4ED64C447AE3}"/>
            </c:ext>
          </c:extLst>
        </c:ser>
        <c:dLbls>
          <c:dLblPos val="inEnd"/>
          <c:showLegendKey val="0"/>
          <c:showVal val="0"/>
          <c:showCatName val="0"/>
          <c:showSerName val="0"/>
          <c:showPercent val="1"/>
          <c:showBubbleSize val="0"/>
          <c:showLeaderLines val="0"/>
        </c:dLbls>
        <c:firstSliceAng val="0"/>
      </c:pieChart>
      <c:spPr>
        <a:noFill/>
        <a:ln>
          <a:noFill/>
        </a:ln>
        <a:effectLst/>
      </c:spPr>
    </c:plotArea>
    <c:legend>
      <c:legendPos val="b"/>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span"/>
    <c:showDLblsOverMax val="1"/>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3D5175"/>
                </a:solidFill>
                <a:latin typeface="Arial"/>
              </a:defRPr>
            </a:pPr>
            <a:r>
              <a:rPr lang="en-US" sz="900" b="0" i="0" u="none" strike="noStrike">
                <a:solidFill>
                  <a:srgbClr val="3D5175"/>
                </a:solidFill>
                <a:latin typeface="Arial"/>
              </a:rPr>
              <a:t>Croma India — Monthly Gross Sales (₹ Millions)</a:t>
            </a:r>
          </a:p>
        </c:rich>
      </c:tx>
      <c:overlay val="0"/>
    </c:title>
    <c:autoTitleDeleted val="0"/>
    <c:plotArea>
      <c:layout/>
      <c:lineChart>
        <c:grouping val="standard"/>
        <c:varyColors val="0"/>
        <c:ser>
          <c:idx val="0"/>
          <c:order val="0"/>
          <c:tx>
            <c:strRef>
              <c:f>Sheet1!$B$1</c:f>
              <c:strCache>
                <c:ptCount val="1"/>
                <c:pt idx="0">
                  <c:v>Gross Sales ₹M</c:v>
                </c:pt>
              </c:strCache>
            </c:strRef>
          </c:tx>
          <c:spPr>
            <a:ln w="31750" cap="flat">
              <a:solidFill>
                <a:srgbClr val="7B4FC9"/>
              </a:solidFill>
              <a:prstDash val="solid"/>
              <a:round/>
            </a:ln>
            <a:effectLst/>
          </c:spPr>
          <c:marker>
            <c:symbol val="circle"/>
            <c:size val="6"/>
            <c:spPr>
              <a:solidFill>
                <a:srgbClr val="7B4FC9"/>
              </a:solidFill>
              <a:ln w="9525" cap="flat">
                <a:solidFill>
                  <a:srgbClr val="7B4FC9"/>
                </a:solidFill>
                <a:prstDash val="solid"/>
                <a:round/>
              </a:ln>
              <a:effectLst/>
            </c:spPr>
          </c:marker>
          <c:cat>
            <c:strRef>
              <c:f>Sheet1!$A$2:$A$25</c:f>
              <c:strCache>
                <c:ptCount val="24"/>
                <c:pt idx="0">
                  <c:v>Sep'19</c:v>
                </c:pt>
                <c:pt idx="1">
                  <c:v>Oct'19</c:v>
                </c:pt>
                <c:pt idx="2">
                  <c:v>Nov'19</c:v>
                </c:pt>
                <c:pt idx="3">
                  <c:v>Dec'19</c:v>
                </c:pt>
                <c:pt idx="4">
                  <c:v>Jan'20</c:v>
                </c:pt>
                <c:pt idx="5">
                  <c:v>Feb'20</c:v>
                </c:pt>
                <c:pt idx="6">
                  <c:v>Mar'20</c:v>
                </c:pt>
                <c:pt idx="7">
                  <c:v>Apr'20</c:v>
                </c:pt>
                <c:pt idx="8">
                  <c:v>May'20</c:v>
                </c:pt>
                <c:pt idx="9">
                  <c:v>Jun'20</c:v>
                </c:pt>
                <c:pt idx="10">
                  <c:v>Jul'20</c:v>
                </c:pt>
                <c:pt idx="11">
                  <c:v>Aug'20</c:v>
                </c:pt>
                <c:pt idx="12">
                  <c:v>Sep'20</c:v>
                </c:pt>
                <c:pt idx="13">
                  <c:v>Oct'20</c:v>
                </c:pt>
                <c:pt idx="14">
                  <c:v>Nov'20</c:v>
                </c:pt>
                <c:pt idx="15">
                  <c:v>Dec'20</c:v>
                </c:pt>
                <c:pt idx="16">
                  <c:v>Jan'21</c:v>
                </c:pt>
                <c:pt idx="17">
                  <c:v>Feb'21</c:v>
                </c:pt>
                <c:pt idx="18">
                  <c:v>Mar'21</c:v>
                </c:pt>
                <c:pt idx="19">
                  <c:v>Apr'21</c:v>
                </c:pt>
                <c:pt idx="20">
                  <c:v>May'21</c:v>
                </c:pt>
                <c:pt idx="21">
                  <c:v>Jun'21</c:v>
                </c:pt>
                <c:pt idx="22">
                  <c:v>Jul'21</c:v>
                </c:pt>
                <c:pt idx="23">
                  <c:v>Aug'21</c:v>
                </c:pt>
              </c:strCache>
            </c:strRef>
          </c:cat>
          <c:val>
            <c:numRef>
              <c:f>Sheet1!$B$2:$B$25</c:f>
              <c:numCache>
                <c:formatCode>0.00</c:formatCode>
                <c:ptCount val="24"/>
                <c:pt idx="0">
                  <c:v>0.78</c:v>
                </c:pt>
                <c:pt idx="1">
                  <c:v>1.03</c:v>
                </c:pt>
                <c:pt idx="2">
                  <c:v>0.99</c:v>
                </c:pt>
                <c:pt idx="3">
                  <c:v>0.85</c:v>
                </c:pt>
                <c:pt idx="4">
                  <c:v>0.62</c:v>
                </c:pt>
                <c:pt idx="5">
                  <c:v>0.55000000000000004</c:v>
                </c:pt>
                <c:pt idx="6">
                  <c:v>0.18</c:v>
                </c:pt>
                <c:pt idx="7">
                  <c:v>0.22</c:v>
                </c:pt>
                <c:pt idx="8">
                  <c:v>0.31</c:v>
                </c:pt>
                <c:pt idx="9">
                  <c:v>0.57999999999999996</c:v>
                </c:pt>
                <c:pt idx="10">
                  <c:v>0.72</c:v>
                </c:pt>
                <c:pt idx="11">
                  <c:v>0.91</c:v>
                </c:pt>
                <c:pt idx="12">
                  <c:v>1.2</c:v>
                </c:pt>
                <c:pt idx="13">
                  <c:v>1.5</c:v>
                </c:pt>
                <c:pt idx="14">
                  <c:v>1.8</c:v>
                </c:pt>
                <c:pt idx="15">
                  <c:v>1.3</c:v>
                </c:pt>
                <c:pt idx="16">
                  <c:v>0.9</c:v>
                </c:pt>
                <c:pt idx="17">
                  <c:v>0.8</c:v>
                </c:pt>
                <c:pt idx="18">
                  <c:v>1.1000000000000001</c:v>
                </c:pt>
                <c:pt idx="19">
                  <c:v>1.4</c:v>
                </c:pt>
                <c:pt idx="20">
                  <c:v>2.1</c:v>
                </c:pt>
                <c:pt idx="21">
                  <c:v>3.2</c:v>
                </c:pt>
                <c:pt idx="22">
                  <c:v>3.9</c:v>
                </c:pt>
                <c:pt idx="23">
                  <c:v>4.7</c:v>
                </c:pt>
              </c:numCache>
            </c:numRef>
          </c:val>
          <c:smooth val="1"/>
          <c:extLst>
            <c:ext xmlns:c16="http://schemas.microsoft.com/office/drawing/2014/chart" uri="{C3380CC4-5D6E-409C-BE32-E72D297353CC}">
              <c16:uniqueId val="{00000000-F7CC-4E40-A210-04A02D4BE7C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51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C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3D5175"/>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558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This presentation covers the AtliQ Hardware SQL Challenge — 10 ad-hoc business requests solved exclusively using MySQL. The goal is to demonstrate SQL proficiency and the ability to translate data into executive-level business insights.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AtliQ Hardware is a major India-based hardware company with global reach. The core business problem: management cannot make fast, data-informed decisions. Tony Sharma has designed this SQL challenge to identify candidates who bridge the gap between raw data and boardroom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follows a standard consulting framework: start with the business question, understand the data, conduct SQL analysis, and translate everything into actionable insights.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AtliQ Hardware dataset (gdb023) contains 5 fact tables and 4 dimension tables spanning multiple fiscal years.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six key findings covering APAC markets, product growth, gross sales trends, channel mix, discount risk, and top products.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01: APAC Market Analysis
Business Question: Which markets does 'Atliq Exclusive' operate in within the APAC region?
Key Findings:
8 distinct markets identified in APAC for Atliq Exclusive
India, Indonesia, Japan, Philippines, South Korea, Australia, New Zealand, Bangladesh
India represents the largest single market by sales volume
Emerging markets (Bangladesh, Philippines) present significant growth opportunity
Business Impact: Direct impact on market expansion strategy and resource allocation across APAC.
Recommendation: Prioritise India for upselling premium products while developing targeted go-to-market strategies for under-penetrated markets like Bangladesh and Philippines.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02: Product Portfolio Growth
Business Question: What is the % increase in unique products in FY2021 vs FY2020?
Key Findings:
FY2020: 245 unique products  |  FY2021: 334 unique products
Net increase: 89 new products — a 36.33% year-over-year growth
Reflects aggressive product diversification strategy
Growth outpaces typical industry expansion rate of 10–15% YoY
Business Impact: Signals strong R&amp;D investment; supply chain and sales operations must scale accordingly.
Recommendation: Conduct SKU rationalization to ensure all 334 products meet minimum margin thresholds. Focus marketing on high-velocity new products.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03: Segment Performance
Business Question: What are the product counts for each segment, sorted by product count?
Key Findings:
Notebook: 129 products  |  Accessories: 116  |  Peripherals: 84
Desktop: 32  |  Storage: 27  |  Networking: 9
Notebook + Accessories = 73% of entire product catalogue
Networking has the smallest portfolio — potential gap vs competitors
Business Impact: Portfolio concentration in Notebook &amp; Accessories may expose revenue risk if segment demand shifts.
Recommendation: Evaluate growth potential in Networking and Storage segments. Consider targeted NPD investment in under-represented categories.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04: Segment Growth Leaders
Business Question: Which segment had the most increase in unique products in FY2021 vs FY2020?
Key Findings:
Accessories: +34 products (largest absolute increase)
Notebook: +16  |  Peripherals: +16  |  Desktop: +15
Storage: +5  |  Networking: +3
Accessories growth aligns with rising demand for remote work peripherals
Business Impact: Accessories is AtliQ's fastest-growing portfolio area — strategic alignment with global work-from-home mega trend.
Recommendation: Double down on Accessories marketing with bundling strategies alongside Notebooks. Explore premium accessory lines to expand ASP.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05: Manufacturing Cost Analysis
Business Question: Which products have the highest and lowest manufacturing costs?
Key Findings:
Highest cost: AQ HOME Allout 9 Pro — ₹240.54 per unit
Lowest cost: AQ Master Wired x1 Ms — ₹0.89 per unit
Cost differential of 270× between top and bottom products
High-cost products require strong gross margin discipline to stay profitable
Business Impact: Manufacturing cost outliers directly affect pricing strategy and gross margin targets.
Recommendation: Review pricing power of the highest-cost product. Conduct margin analysis for all products where cost &gt;₹100.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06: Customer Discount Analysis
Business Question: Top 5 customers with highest avg pre-invoice discount % in FY2021 — Indian market
Key Findings:
Top customer: Flipkart — 30.83% average pre-invoice discount
Viveks (30.38%), Ezone (30.28%), Croma (30.25%), Amazon (29.33%)
All top 5 receive ~29–31% discount — very narrow variance
High discount rates signal strong buyer leverage and pricing pressure
Business Impact: Concentrated discount levels among top Indian customers compress gross margins significantly.
Recommendation: Restructure discount frameworks with tiered value-based incentives. Introduce non-monetary benefits (priority stock, co-marketing) to reduce direct discount dependency.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07: Quarter-wise Sales Analysis
Business Question: In which quarter of FY2020 did AtliQ record the maximum total sold quantity?
Key Findings:
Q1 FY2020 (Sep–Nov 2019): 7.01M units — HIGHEST quarter
Q2 (Dec–Feb): 6.65M units  |  Q4 (Jun–Aug): 5.04M units
Q3 (Mar–May): 2.08M — LOWEST — COVID-19 lockdown impact clearly visible
Seasonal peak in Q1 aligns with back-to-school and new product launches
Business Impact: COVID-19 caused a 68% drop in Q3 sales volume — demonstrates need for supply chain resilience.
Recommendation: Build seasonal demand forecasting models to optimise inventory. Develop contingency plans for demand shocks similar to Q3 FY2020.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08: Channel Performance Analysis
Business Question: Which channel drove the most gross sales in FY2021 and what was its contribution %?
Key Findings:
Retailer: ₹1924.7M gross sales — 73.2% of total
Direct: ₹406.7M — 15.5%  |  Distributor: ₹297.2M — 11.3%
Retailer channel dominates by a massive margin
Direct channel growing — signals e-commerce and D2C opportunity
Business Impact: Over-reliance on Retailer channel creates concentration risk; Direct growth could significantly improve margins.
Recommendation: Invest in Direct (D2C) channel to capture higher margins. Develop exclusive online product bundles and loyalty programs.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09: Top Products by Division
Business Question: Top 3 products by total sold quantity in each division — FY2021
Key Findings:
P &amp; A Division: AQ Gamers Ms (2.48M), AQ Master wireless x1 Ms (2.45M), AQ Maxima Ms
N &amp; S Division: AQ Pen Drive DRC (2.03M), AQ Clx1 (1.24M), AQ Digit SSD (1.24M)
PC Division: AQ Digit, AQ Gen Y, AQ Clx1 — smaller volumes but higher unit value
Storage/Networking products show high demand with limited SKUs
Business Impact: Division-level performance reveals hero SKUs driving disproportionate volume — critical for supply planning.
Recommendation: Ensure hero products (top 3 per division) have 100% supply availability. Create 'defender' SKUs alongside heroes to capture adjacent demand.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10: Gross Sales Trends
Business Question: Report of gross sales for Croma India customer across all months
Key Findings:
Croma India FY2021 peak: November 2021 — ₹4.70M in a single month
Significant YoY growth from FY2020 to FY2021
Consistent seasonal uptick in Q4 (holiday &amp; new product launch season)
Croma is a key strategic partner in the Indian retail channel
Business Impact: Croma represents a high-value customer with predictable seasonal patterns — enables precise promotional and inventory planning.
Recommendation: Lock in strategic partnership terms with Croma for seasonal pushes. Develop JBP including co-marketing during peak months (Oct–Dec).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Consolidates the six highest-priority insights for leadership action.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strategic recommendation pillars backed by SQL data findings.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technical skill set applied in this challenge. SQL depth combined with business communication ability distinguishes a data analyst who adds strategic value.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panel. Key message: this challenge demonstrates SQL depth AND the ability to think like a business analyst — connecting data to strategy and decisions.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www.linkedin.com/in/mohitchauhan157"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codebasics.io/portfolio/Mohit-Chauh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8072"/>
          </a:xfrm>
          <a:prstGeom prst="rect">
            <a:avLst/>
          </a:prstGeom>
          <a:solidFill>
            <a:srgbClr val="1B3A6B"/>
          </a:solidFill>
          <a:ln w="12700">
            <a:solidFill>
              <a:srgbClr val="1B3A6B"/>
            </a:solidFill>
            <a:prstDash val="solid"/>
          </a:ln>
        </p:spPr>
      </p:sp>
      <p:sp>
        <p:nvSpPr>
          <p:cNvPr id="3" name="Shape 1"/>
          <p:cNvSpPr/>
          <p:nvPr/>
        </p:nvSpPr>
        <p:spPr>
          <a:xfrm>
            <a:off x="0" y="4754880"/>
            <a:ext cx="4572000" cy="393192"/>
          </a:xfrm>
          <a:prstGeom prst="rect">
            <a:avLst/>
          </a:prstGeom>
          <a:solidFill>
            <a:srgbClr val="1B6CA8"/>
          </a:solidFill>
          <a:ln w="12700">
            <a:solidFill>
              <a:srgbClr val="1B6CA8"/>
            </a:solidFill>
            <a:prstDash val="solid"/>
          </a:ln>
        </p:spPr>
      </p:sp>
      <p:sp>
        <p:nvSpPr>
          <p:cNvPr id="4" name="Text 2"/>
          <p:cNvSpPr/>
          <p:nvPr/>
        </p:nvSpPr>
        <p:spPr>
          <a:xfrm>
            <a:off x="365760" y="685800"/>
            <a:ext cx="3931920" cy="68580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AtliQ Hardware</a:t>
            </a:r>
            <a:endParaRPr lang="en-US" sz="3400" dirty="0"/>
          </a:p>
        </p:txBody>
      </p:sp>
      <p:sp>
        <p:nvSpPr>
          <p:cNvPr id="5" name="Text 3"/>
          <p:cNvSpPr/>
          <p:nvPr/>
        </p:nvSpPr>
        <p:spPr>
          <a:xfrm>
            <a:off x="365760" y="1371600"/>
            <a:ext cx="3931920" cy="594360"/>
          </a:xfrm>
          <a:prstGeom prst="rect">
            <a:avLst/>
          </a:prstGeom>
          <a:noFill/>
          <a:ln/>
        </p:spPr>
        <p:txBody>
          <a:bodyPr wrap="square" rtlCol="0" anchor="ctr"/>
          <a:lstStyle/>
          <a:p>
            <a:pPr marL="0" indent="0">
              <a:buNone/>
            </a:pPr>
            <a:r>
              <a:rPr lang="en-US" sz="3000" b="1" dirty="0">
                <a:solidFill>
                  <a:srgbClr val="6BBFEA"/>
                </a:solidFill>
                <a:latin typeface="Calibri" pitchFamily="34" charset="0"/>
                <a:ea typeface="Calibri" pitchFamily="34" charset="-122"/>
                <a:cs typeface="Calibri" pitchFamily="34" charset="-120"/>
              </a:rPr>
              <a:t>SQL Challenge</a:t>
            </a:r>
            <a:endParaRPr lang="en-US" sz="3000" dirty="0"/>
          </a:p>
        </p:txBody>
      </p:sp>
      <p:sp>
        <p:nvSpPr>
          <p:cNvPr id="6" name="Text 4"/>
          <p:cNvSpPr/>
          <p:nvPr/>
        </p:nvSpPr>
        <p:spPr>
          <a:xfrm>
            <a:off x="365760" y="2029968"/>
            <a:ext cx="3931920" cy="329184"/>
          </a:xfrm>
          <a:prstGeom prst="rect">
            <a:avLst/>
          </a:prstGeom>
          <a:noFill/>
          <a:ln/>
        </p:spPr>
        <p:txBody>
          <a:bodyPr wrap="square" rtlCol="0" anchor="ctr"/>
          <a:lstStyle/>
          <a:p>
            <a:pPr marL="0" indent="0">
              <a:buNone/>
            </a:pPr>
            <a:r>
              <a:rPr lang="en-US" sz="1200" i="1" dirty="0">
                <a:solidFill>
                  <a:srgbClr val="B8C8E4"/>
                </a:solidFill>
                <a:latin typeface="Calibri" pitchFamily="34" charset="0"/>
                <a:ea typeface="Calibri" pitchFamily="34" charset="-122"/>
                <a:cs typeface="Calibri" pitchFamily="34" charset="-120"/>
              </a:rPr>
              <a:t>Business Insights &amp; Data Analysis</a:t>
            </a:r>
            <a:endParaRPr lang="en-US" sz="1200" dirty="0"/>
          </a:p>
        </p:txBody>
      </p:sp>
      <p:sp>
        <p:nvSpPr>
          <p:cNvPr id="7" name="Shape 5"/>
          <p:cNvSpPr/>
          <p:nvPr/>
        </p:nvSpPr>
        <p:spPr>
          <a:xfrm>
            <a:off x="365760" y="2468880"/>
            <a:ext cx="3200400" cy="36576"/>
          </a:xfrm>
          <a:prstGeom prst="rect">
            <a:avLst/>
          </a:prstGeom>
          <a:solidFill>
            <a:srgbClr val="3A5A80"/>
          </a:solidFill>
          <a:ln w="12700">
            <a:solidFill>
              <a:srgbClr val="3A5A80"/>
            </a:solidFill>
            <a:prstDash val="solid"/>
          </a:ln>
        </p:spPr>
      </p:sp>
      <p:sp>
        <p:nvSpPr>
          <p:cNvPr id="8" name="Shape 6"/>
          <p:cNvSpPr/>
          <p:nvPr/>
        </p:nvSpPr>
        <p:spPr>
          <a:xfrm>
            <a:off x="365760" y="2606040"/>
            <a:ext cx="1261872" cy="246888"/>
          </a:xfrm>
          <a:prstGeom prst="roundRect">
            <a:avLst>
              <a:gd name="adj" fmla="val 22222"/>
            </a:avLst>
          </a:prstGeom>
          <a:solidFill>
            <a:srgbClr val="22406A"/>
          </a:solidFill>
          <a:ln w="6350">
            <a:solidFill>
              <a:srgbClr val="4A6A9A"/>
            </a:solidFill>
            <a:prstDash val="solid"/>
          </a:ln>
        </p:spPr>
      </p:sp>
      <p:sp>
        <p:nvSpPr>
          <p:cNvPr id="9" name="Text 7"/>
          <p:cNvSpPr/>
          <p:nvPr/>
        </p:nvSpPr>
        <p:spPr>
          <a:xfrm>
            <a:off x="365760" y="2606040"/>
            <a:ext cx="1261872" cy="246888"/>
          </a:xfrm>
          <a:prstGeom prst="rect">
            <a:avLst/>
          </a:prstGeom>
          <a:noFill/>
          <a:ln/>
        </p:spPr>
        <p:txBody>
          <a:bodyPr wrap="square" rtlCol="0" anchor="ctr"/>
          <a:lstStyle/>
          <a:p>
            <a:pPr marL="0" indent="0" algn="ctr">
              <a:buNone/>
            </a:pPr>
            <a:r>
              <a:rPr lang="en-US" sz="750" b="1" dirty="0">
                <a:solidFill>
                  <a:srgbClr val="A8CCE8"/>
                </a:solidFill>
                <a:latin typeface="Calibri" pitchFamily="34" charset="0"/>
                <a:ea typeface="Calibri" pitchFamily="34" charset="-122"/>
                <a:cs typeface="Calibri" pitchFamily="34" charset="-120"/>
              </a:rPr>
              <a:t>SQL  |  MySQL</a:t>
            </a:r>
            <a:endParaRPr lang="en-US" sz="750" dirty="0"/>
          </a:p>
        </p:txBody>
      </p:sp>
      <p:sp>
        <p:nvSpPr>
          <p:cNvPr id="10" name="Shape 8"/>
          <p:cNvSpPr/>
          <p:nvPr/>
        </p:nvSpPr>
        <p:spPr>
          <a:xfrm>
            <a:off x="1737360" y="2606040"/>
            <a:ext cx="1261872" cy="246888"/>
          </a:xfrm>
          <a:prstGeom prst="roundRect">
            <a:avLst>
              <a:gd name="adj" fmla="val 22222"/>
            </a:avLst>
          </a:prstGeom>
          <a:solidFill>
            <a:srgbClr val="22406A"/>
          </a:solidFill>
          <a:ln w="6350">
            <a:solidFill>
              <a:srgbClr val="4A6A9A"/>
            </a:solidFill>
            <a:prstDash val="solid"/>
          </a:ln>
        </p:spPr>
      </p:sp>
      <p:sp>
        <p:nvSpPr>
          <p:cNvPr id="11" name="Text 9"/>
          <p:cNvSpPr/>
          <p:nvPr/>
        </p:nvSpPr>
        <p:spPr>
          <a:xfrm>
            <a:off x="1737360" y="2606040"/>
            <a:ext cx="1261872" cy="246888"/>
          </a:xfrm>
          <a:prstGeom prst="rect">
            <a:avLst/>
          </a:prstGeom>
          <a:noFill/>
          <a:ln/>
        </p:spPr>
        <p:txBody>
          <a:bodyPr wrap="square" rtlCol="0" anchor="ctr"/>
          <a:lstStyle/>
          <a:p>
            <a:pPr marL="0" indent="0" algn="ctr">
              <a:buNone/>
            </a:pPr>
            <a:r>
              <a:rPr lang="en-US" sz="750" b="1" dirty="0">
                <a:solidFill>
                  <a:srgbClr val="A8CCE8"/>
                </a:solidFill>
                <a:latin typeface="Calibri" pitchFamily="34" charset="0"/>
                <a:ea typeface="Calibri" pitchFamily="34" charset="-122"/>
                <a:cs typeface="Calibri" pitchFamily="34" charset="-120"/>
              </a:rPr>
              <a:t>Data Analysis</a:t>
            </a:r>
            <a:endParaRPr lang="en-US" sz="750" dirty="0"/>
          </a:p>
        </p:txBody>
      </p:sp>
      <p:sp>
        <p:nvSpPr>
          <p:cNvPr id="12" name="Shape 10"/>
          <p:cNvSpPr/>
          <p:nvPr/>
        </p:nvSpPr>
        <p:spPr>
          <a:xfrm>
            <a:off x="3108960" y="2606040"/>
            <a:ext cx="1261872" cy="246888"/>
          </a:xfrm>
          <a:prstGeom prst="roundRect">
            <a:avLst>
              <a:gd name="adj" fmla="val 22222"/>
            </a:avLst>
          </a:prstGeom>
          <a:solidFill>
            <a:srgbClr val="22406A"/>
          </a:solidFill>
          <a:ln w="6350">
            <a:solidFill>
              <a:srgbClr val="4A6A9A"/>
            </a:solidFill>
            <a:prstDash val="solid"/>
          </a:ln>
        </p:spPr>
      </p:sp>
      <p:sp>
        <p:nvSpPr>
          <p:cNvPr id="13" name="Text 11"/>
          <p:cNvSpPr/>
          <p:nvPr/>
        </p:nvSpPr>
        <p:spPr>
          <a:xfrm>
            <a:off x="3108960" y="2606040"/>
            <a:ext cx="1261872" cy="246888"/>
          </a:xfrm>
          <a:prstGeom prst="rect">
            <a:avLst/>
          </a:prstGeom>
          <a:noFill/>
          <a:ln/>
        </p:spPr>
        <p:txBody>
          <a:bodyPr wrap="square" rtlCol="0" anchor="ctr"/>
          <a:lstStyle/>
          <a:p>
            <a:pPr marL="0" indent="0" algn="ctr">
              <a:buNone/>
            </a:pPr>
            <a:r>
              <a:rPr lang="en-US" sz="750" b="1" dirty="0">
                <a:solidFill>
                  <a:srgbClr val="A8CCE8"/>
                </a:solidFill>
                <a:latin typeface="Calibri" pitchFamily="34" charset="0"/>
                <a:ea typeface="Calibri" pitchFamily="34" charset="-122"/>
                <a:cs typeface="Calibri" pitchFamily="34" charset="-120"/>
              </a:rPr>
              <a:t>Business Analytics</a:t>
            </a:r>
            <a:endParaRPr lang="en-US" sz="750" dirty="0"/>
          </a:p>
        </p:txBody>
      </p:sp>
      <p:sp>
        <p:nvSpPr>
          <p:cNvPr id="14" name="Text 12"/>
          <p:cNvSpPr/>
          <p:nvPr/>
        </p:nvSpPr>
        <p:spPr>
          <a:xfrm>
            <a:off x="365760" y="3108960"/>
            <a:ext cx="2743200" cy="228600"/>
          </a:xfrm>
          <a:prstGeom prst="rect">
            <a:avLst/>
          </a:prstGeom>
          <a:noFill/>
          <a:ln/>
        </p:spPr>
        <p:txBody>
          <a:bodyPr wrap="square" rtlCol="0" anchor="ctr"/>
          <a:lstStyle/>
          <a:p>
            <a:pPr marL="0" indent="0">
              <a:buNone/>
            </a:pPr>
            <a:r>
              <a:rPr lang="en-US" sz="900" dirty="0">
                <a:solidFill>
                  <a:srgbClr val="B8C8E4"/>
                </a:solidFill>
                <a:latin typeface="Calibri" pitchFamily="34" charset="0"/>
                <a:ea typeface="Calibri" pitchFamily="34" charset="-122"/>
                <a:cs typeface="Calibri" pitchFamily="34" charset="-120"/>
              </a:rPr>
              <a:t>Prepared by</a:t>
            </a:r>
            <a:endParaRPr lang="en-US" sz="900" dirty="0"/>
          </a:p>
        </p:txBody>
      </p:sp>
      <p:sp>
        <p:nvSpPr>
          <p:cNvPr id="15" name="Text 13"/>
          <p:cNvSpPr/>
          <p:nvPr/>
        </p:nvSpPr>
        <p:spPr>
          <a:xfrm>
            <a:off x="365760" y="3337560"/>
            <a:ext cx="3931920" cy="438912"/>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Mohit Chauhan</a:t>
            </a:r>
            <a:endParaRPr lang="en-US" sz="2000" dirty="0"/>
          </a:p>
        </p:txBody>
      </p:sp>
      <p:sp>
        <p:nvSpPr>
          <p:cNvPr id="16" name="Text 14"/>
          <p:cNvSpPr/>
          <p:nvPr/>
        </p:nvSpPr>
        <p:spPr>
          <a:xfrm>
            <a:off x="365760" y="3767328"/>
            <a:ext cx="3931920" cy="246888"/>
          </a:xfrm>
          <a:prstGeom prst="rect">
            <a:avLst/>
          </a:prstGeom>
          <a:noFill/>
          <a:ln/>
        </p:spPr>
        <p:txBody>
          <a:bodyPr wrap="square" rtlCol="0" anchor="ctr"/>
          <a:lstStyle/>
          <a:p>
            <a:pPr marL="0" indent="0">
              <a:buNone/>
            </a:pPr>
            <a:r>
              <a:rPr lang="en-US" sz="1600" dirty="0">
                <a:solidFill>
                  <a:srgbClr val="B8C8E4"/>
                </a:solidFill>
                <a:latin typeface="Calibri" pitchFamily="34" charset="0"/>
                <a:ea typeface="Calibri" pitchFamily="34" charset="-122"/>
                <a:cs typeface="Calibri" pitchFamily="34" charset="-120"/>
              </a:rPr>
              <a:t>Data Analyst</a:t>
            </a:r>
            <a:endParaRPr lang="en-US" sz="1600" dirty="0"/>
          </a:p>
        </p:txBody>
      </p:sp>
      <p:sp>
        <p:nvSpPr>
          <p:cNvPr id="17" name="Shape 15"/>
          <p:cNvSpPr/>
          <p:nvPr/>
        </p:nvSpPr>
        <p:spPr>
          <a:xfrm>
            <a:off x="4800600" y="365760"/>
            <a:ext cx="3977640" cy="1005840"/>
          </a:xfrm>
          <a:prstGeom prst="rect">
            <a:avLst/>
          </a:prstGeom>
          <a:solidFill>
            <a:srgbClr val="F7F9FC"/>
          </a:solidFill>
          <a:ln w="7620">
            <a:solidFill>
              <a:srgbClr val="D0DCF0"/>
            </a:solidFill>
            <a:prstDash val="solid"/>
          </a:ln>
          <a:effectLst>
            <a:outerShdw blurRad="76200" dist="25400" dir="2700000" algn="bl" rotWithShape="0">
              <a:srgbClr val="9BB0CC">
                <a:alpha val="22000"/>
              </a:srgbClr>
            </a:outerShdw>
          </a:effectLst>
        </p:spPr>
      </p:sp>
      <p:sp>
        <p:nvSpPr>
          <p:cNvPr id="18" name="Shape 16"/>
          <p:cNvSpPr/>
          <p:nvPr/>
        </p:nvSpPr>
        <p:spPr>
          <a:xfrm>
            <a:off x="4800600" y="365760"/>
            <a:ext cx="3977640" cy="54864"/>
          </a:xfrm>
          <a:prstGeom prst="rect">
            <a:avLst/>
          </a:prstGeom>
          <a:solidFill>
            <a:srgbClr val="1B6CA8"/>
          </a:solidFill>
          <a:ln w="12700">
            <a:solidFill>
              <a:srgbClr val="1B6CA8"/>
            </a:solidFill>
            <a:prstDash val="solid"/>
          </a:ln>
        </p:spPr>
      </p:sp>
      <p:sp>
        <p:nvSpPr>
          <p:cNvPr id="19" name="Text 17"/>
          <p:cNvSpPr/>
          <p:nvPr/>
        </p:nvSpPr>
        <p:spPr>
          <a:xfrm>
            <a:off x="4937760" y="475488"/>
            <a:ext cx="1005840" cy="566928"/>
          </a:xfrm>
          <a:prstGeom prst="rect">
            <a:avLst/>
          </a:prstGeom>
          <a:noFill/>
          <a:ln/>
        </p:spPr>
        <p:txBody>
          <a:bodyPr wrap="square" rtlCol="0" anchor="ctr"/>
          <a:lstStyle/>
          <a:p>
            <a:pPr marL="0" indent="0" algn="ctr">
              <a:buNone/>
            </a:pPr>
            <a:r>
              <a:rPr lang="en-US" sz="3400" b="1" dirty="0">
                <a:solidFill>
                  <a:srgbClr val="1B6CA8"/>
                </a:solidFill>
                <a:latin typeface="Calibri" pitchFamily="34" charset="0"/>
                <a:ea typeface="Calibri" pitchFamily="34" charset="-122"/>
                <a:cs typeface="Calibri" pitchFamily="34" charset="-120"/>
              </a:rPr>
              <a:t>10</a:t>
            </a:r>
            <a:endParaRPr lang="en-US" sz="3400" dirty="0"/>
          </a:p>
        </p:txBody>
      </p:sp>
      <p:sp>
        <p:nvSpPr>
          <p:cNvPr id="20" name="Text 18"/>
          <p:cNvSpPr/>
          <p:nvPr/>
        </p:nvSpPr>
        <p:spPr>
          <a:xfrm>
            <a:off x="5989320" y="640080"/>
            <a:ext cx="2651760" cy="347472"/>
          </a:xfrm>
          <a:prstGeom prst="rect">
            <a:avLst/>
          </a:prstGeom>
          <a:noFill/>
          <a:ln/>
        </p:spPr>
        <p:txBody>
          <a:bodyPr wrap="square" rtlCol="0" anchor="ctr"/>
          <a:lstStyle/>
          <a:p>
            <a:pPr marL="0" indent="0">
              <a:buNone/>
            </a:pPr>
            <a:r>
              <a:rPr lang="en-US" sz="1200" dirty="0">
                <a:solidFill>
                  <a:srgbClr val="3D5175"/>
                </a:solidFill>
                <a:latin typeface="Calibri" pitchFamily="34" charset="0"/>
                <a:ea typeface="Calibri" pitchFamily="34" charset="-122"/>
                <a:cs typeface="Calibri" pitchFamily="34" charset="-120"/>
              </a:rPr>
              <a:t>Ad-Hoc Requests Solved</a:t>
            </a:r>
            <a:endParaRPr lang="en-US" sz="1200" dirty="0"/>
          </a:p>
        </p:txBody>
      </p:sp>
      <p:sp>
        <p:nvSpPr>
          <p:cNvPr id="21" name="Shape 19"/>
          <p:cNvSpPr/>
          <p:nvPr/>
        </p:nvSpPr>
        <p:spPr>
          <a:xfrm>
            <a:off x="4800600" y="1517904"/>
            <a:ext cx="3977640" cy="1005840"/>
          </a:xfrm>
          <a:prstGeom prst="rect">
            <a:avLst/>
          </a:prstGeom>
          <a:solidFill>
            <a:srgbClr val="F7F9FC"/>
          </a:solidFill>
          <a:ln w="7620">
            <a:solidFill>
              <a:srgbClr val="D0DCF0"/>
            </a:solidFill>
            <a:prstDash val="solid"/>
          </a:ln>
          <a:effectLst>
            <a:outerShdw blurRad="76200" dist="25400" dir="2700000" algn="bl" rotWithShape="0">
              <a:srgbClr val="9BB0CC">
                <a:alpha val="22000"/>
              </a:srgbClr>
            </a:outerShdw>
          </a:effectLst>
        </p:spPr>
      </p:sp>
      <p:sp>
        <p:nvSpPr>
          <p:cNvPr id="22" name="Shape 20"/>
          <p:cNvSpPr/>
          <p:nvPr/>
        </p:nvSpPr>
        <p:spPr>
          <a:xfrm>
            <a:off x="4800600" y="1517904"/>
            <a:ext cx="3977640" cy="54864"/>
          </a:xfrm>
          <a:prstGeom prst="rect">
            <a:avLst/>
          </a:prstGeom>
          <a:solidFill>
            <a:srgbClr val="1E8A5E"/>
          </a:solidFill>
          <a:ln w="12700">
            <a:solidFill>
              <a:srgbClr val="1E8A5E"/>
            </a:solidFill>
            <a:prstDash val="solid"/>
          </a:ln>
        </p:spPr>
      </p:sp>
      <p:sp>
        <p:nvSpPr>
          <p:cNvPr id="23" name="Text 21"/>
          <p:cNvSpPr/>
          <p:nvPr/>
        </p:nvSpPr>
        <p:spPr>
          <a:xfrm>
            <a:off x="4937760" y="1847088"/>
            <a:ext cx="1005840" cy="347472"/>
          </a:xfrm>
          <a:prstGeom prst="rect">
            <a:avLst/>
          </a:prstGeom>
          <a:noFill/>
          <a:ln/>
        </p:spPr>
        <p:txBody>
          <a:bodyPr wrap="square" rtlCol="0" anchor="ctr"/>
          <a:lstStyle/>
          <a:p>
            <a:pPr algn="ctr"/>
            <a:r>
              <a:rPr lang="en-US" sz="3000" b="1" dirty="0">
                <a:solidFill>
                  <a:srgbClr val="1E8A5E"/>
                </a:solidFill>
                <a:latin typeface="Calibri" pitchFamily="34" charset="0"/>
                <a:ea typeface="Calibri" pitchFamily="34" charset="-122"/>
                <a:cs typeface="Calibri" pitchFamily="34" charset="-120"/>
              </a:rPr>
              <a:t>397+</a:t>
            </a:r>
            <a:endParaRPr lang="en-US" sz="3000" dirty="0"/>
          </a:p>
        </p:txBody>
      </p:sp>
      <p:sp>
        <p:nvSpPr>
          <p:cNvPr id="24" name="Text 22"/>
          <p:cNvSpPr/>
          <p:nvPr/>
        </p:nvSpPr>
        <p:spPr>
          <a:xfrm>
            <a:off x="5989320" y="1792224"/>
            <a:ext cx="2651760" cy="347472"/>
          </a:xfrm>
          <a:prstGeom prst="rect">
            <a:avLst/>
          </a:prstGeom>
          <a:noFill/>
          <a:ln/>
        </p:spPr>
        <p:txBody>
          <a:bodyPr wrap="square" rtlCol="0" anchor="ctr"/>
          <a:lstStyle/>
          <a:p>
            <a:pPr marL="0" indent="0">
              <a:buNone/>
            </a:pPr>
            <a:r>
              <a:rPr lang="en-US" sz="1200" dirty="0">
                <a:solidFill>
                  <a:srgbClr val="3D5175"/>
                </a:solidFill>
                <a:latin typeface="Calibri" pitchFamily="34" charset="0"/>
                <a:ea typeface="Calibri" pitchFamily="34" charset="-122"/>
                <a:cs typeface="Calibri" pitchFamily="34" charset="-120"/>
              </a:rPr>
              <a:t>Products Analysed</a:t>
            </a:r>
            <a:endParaRPr lang="en-US" sz="1200" dirty="0"/>
          </a:p>
        </p:txBody>
      </p:sp>
      <p:sp>
        <p:nvSpPr>
          <p:cNvPr id="25" name="Shape 23"/>
          <p:cNvSpPr/>
          <p:nvPr/>
        </p:nvSpPr>
        <p:spPr>
          <a:xfrm>
            <a:off x="4800600" y="2670048"/>
            <a:ext cx="3977640" cy="1005840"/>
          </a:xfrm>
          <a:prstGeom prst="rect">
            <a:avLst/>
          </a:prstGeom>
          <a:solidFill>
            <a:srgbClr val="F7F9FC"/>
          </a:solidFill>
          <a:ln w="7620">
            <a:solidFill>
              <a:srgbClr val="D0DCF0"/>
            </a:solidFill>
            <a:prstDash val="solid"/>
          </a:ln>
          <a:effectLst>
            <a:outerShdw blurRad="76200" dist="25400" dir="2700000" algn="bl" rotWithShape="0">
              <a:srgbClr val="9BB0CC">
                <a:alpha val="22000"/>
              </a:srgbClr>
            </a:outerShdw>
          </a:effectLst>
        </p:spPr>
      </p:sp>
      <p:sp>
        <p:nvSpPr>
          <p:cNvPr id="26" name="Shape 24"/>
          <p:cNvSpPr/>
          <p:nvPr/>
        </p:nvSpPr>
        <p:spPr>
          <a:xfrm>
            <a:off x="4800600" y="2670048"/>
            <a:ext cx="3977640" cy="54864"/>
          </a:xfrm>
          <a:prstGeom prst="rect">
            <a:avLst/>
          </a:prstGeom>
          <a:solidFill>
            <a:srgbClr val="D4860B"/>
          </a:solidFill>
          <a:ln w="12700">
            <a:solidFill>
              <a:srgbClr val="D4860B"/>
            </a:solidFill>
            <a:prstDash val="solid"/>
          </a:ln>
        </p:spPr>
      </p:sp>
      <p:sp>
        <p:nvSpPr>
          <p:cNvPr id="27" name="Text 25"/>
          <p:cNvSpPr/>
          <p:nvPr/>
        </p:nvSpPr>
        <p:spPr>
          <a:xfrm>
            <a:off x="4937760" y="2779776"/>
            <a:ext cx="1005840" cy="566928"/>
          </a:xfrm>
          <a:prstGeom prst="rect">
            <a:avLst/>
          </a:prstGeom>
          <a:noFill/>
          <a:ln/>
        </p:spPr>
        <p:txBody>
          <a:bodyPr wrap="square" rtlCol="0" anchor="ctr"/>
          <a:lstStyle/>
          <a:p>
            <a:pPr marL="0" indent="0" algn="ctr">
              <a:buNone/>
            </a:pPr>
            <a:r>
              <a:rPr lang="en-US" sz="3400" b="1" dirty="0">
                <a:solidFill>
                  <a:srgbClr val="D4860B"/>
                </a:solidFill>
                <a:latin typeface="Calibri" pitchFamily="34" charset="0"/>
                <a:ea typeface="Calibri" pitchFamily="34" charset="-122"/>
                <a:cs typeface="Calibri" pitchFamily="34" charset="-120"/>
              </a:rPr>
              <a:t>4+</a:t>
            </a:r>
            <a:endParaRPr lang="en-US" sz="3400" dirty="0"/>
          </a:p>
        </p:txBody>
      </p:sp>
      <p:sp>
        <p:nvSpPr>
          <p:cNvPr id="28" name="Text 26"/>
          <p:cNvSpPr/>
          <p:nvPr/>
        </p:nvSpPr>
        <p:spPr>
          <a:xfrm>
            <a:off x="5989320" y="2944368"/>
            <a:ext cx="2651760" cy="347472"/>
          </a:xfrm>
          <a:prstGeom prst="rect">
            <a:avLst/>
          </a:prstGeom>
          <a:noFill/>
          <a:ln/>
        </p:spPr>
        <p:txBody>
          <a:bodyPr wrap="square" rtlCol="0" anchor="ctr"/>
          <a:lstStyle/>
          <a:p>
            <a:pPr marL="0" indent="0">
              <a:buNone/>
            </a:pPr>
            <a:r>
              <a:rPr lang="en-US" sz="1200" dirty="0">
                <a:solidFill>
                  <a:srgbClr val="3D5175"/>
                </a:solidFill>
                <a:latin typeface="Calibri" pitchFamily="34" charset="0"/>
                <a:ea typeface="Calibri" pitchFamily="34" charset="-122"/>
                <a:cs typeface="Calibri" pitchFamily="34" charset="-120"/>
              </a:rPr>
              <a:t>Business Domains</a:t>
            </a:r>
            <a:endParaRPr lang="en-US" sz="1200" dirty="0"/>
          </a:p>
        </p:txBody>
      </p:sp>
      <p:sp>
        <p:nvSpPr>
          <p:cNvPr id="29" name="Shape 27"/>
          <p:cNvSpPr/>
          <p:nvPr/>
        </p:nvSpPr>
        <p:spPr>
          <a:xfrm>
            <a:off x="4800600" y="3822192"/>
            <a:ext cx="3977640" cy="1005840"/>
          </a:xfrm>
          <a:prstGeom prst="rect">
            <a:avLst/>
          </a:prstGeom>
          <a:solidFill>
            <a:srgbClr val="F7F9FC"/>
          </a:solidFill>
          <a:ln w="7620">
            <a:solidFill>
              <a:srgbClr val="D0DCF0"/>
            </a:solidFill>
            <a:prstDash val="solid"/>
          </a:ln>
          <a:effectLst>
            <a:outerShdw blurRad="76200" dist="25400" dir="2700000" algn="bl" rotWithShape="0">
              <a:srgbClr val="9BB0CC">
                <a:alpha val="22000"/>
              </a:srgbClr>
            </a:outerShdw>
          </a:effectLst>
        </p:spPr>
      </p:sp>
      <p:sp>
        <p:nvSpPr>
          <p:cNvPr id="30" name="Shape 28"/>
          <p:cNvSpPr/>
          <p:nvPr/>
        </p:nvSpPr>
        <p:spPr>
          <a:xfrm>
            <a:off x="4800600" y="3822192"/>
            <a:ext cx="3977640" cy="54864"/>
          </a:xfrm>
          <a:prstGeom prst="rect">
            <a:avLst/>
          </a:prstGeom>
          <a:solidFill>
            <a:srgbClr val="7B4FC9"/>
          </a:solidFill>
          <a:ln w="12700">
            <a:solidFill>
              <a:srgbClr val="7B4FC9"/>
            </a:solidFill>
            <a:prstDash val="solid"/>
          </a:ln>
        </p:spPr>
      </p:sp>
      <p:sp>
        <p:nvSpPr>
          <p:cNvPr id="31" name="Text 29"/>
          <p:cNvSpPr/>
          <p:nvPr/>
        </p:nvSpPr>
        <p:spPr>
          <a:xfrm>
            <a:off x="4937760" y="3931920"/>
            <a:ext cx="1005840" cy="566928"/>
          </a:xfrm>
          <a:prstGeom prst="rect">
            <a:avLst/>
          </a:prstGeom>
          <a:noFill/>
          <a:ln/>
        </p:spPr>
        <p:txBody>
          <a:bodyPr wrap="square" rtlCol="0" anchor="ctr"/>
          <a:lstStyle/>
          <a:p>
            <a:pPr marL="0" indent="0" algn="ctr">
              <a:buNone/>
            </a:pPr>
            <a:r>
              <a:rPr lang="en-US" sz="3400" b="1" dirty="0">
                <a:solidFill>
                  <a:srgbClr val="7B4FC9"/>
                </a:solidFill>
                <a:latin typeface="Calibri" pitchFamily="34" charset="0"/>
                <a:ea typeface="Calibri" pitchFamily="34" charset="-122"/>
                <a:cs typeface="Calibri" pitchFamily="34" charset="-120"/>
              </a:rPr>
              <a:t>27+</a:t>
            </a:r>
            <a:endParaRPr lang="en-US" sz="3400" dirty="0"/>
          </a:p>
        </p:txBody>
      </p:sp>
      <p:sp>
        <p:nvSpPr>
          <p:cNvPr id="32" name="Text 30"/>
          <p:cNvSpPr/>
          <p:nvPr/>
        </p:nvSpPr>
        <p:spPr>
          <a:xfrm>
            <a:off x="5989320" y="4096512"/>
            <a:ext cx="2651760" cy="347472"/>
          </a:xfrm>
          <a:prstGeom prst="rect">
            <a:avLst/>
          </a:prstGeom>
          <a:noFill/>
          <a:ln/>
        </p:spPr>
        <p:txBody>
          <a:bodyPr wrap="square" rtlCol="0" anchor="ctr"/>
          <a:lstStyle/>
          <a:p>
            <a:pPr marL="0" indent="0">
              <a:buNone/>
            </a:pPr>
            <a:r>
              <a:rPr lang="en-US" sz="1200" dirty="0">
                <a:solidFill>
                  <a:srgbClr val="3D5175"/>
                </a:solidFill>
                <a:latin typeface="Calibri" pitchFamily="34" charset="0"/>
                <a:ea typeface="Calibri" pitchFamily="34" charset="-122"/>
                <a:cs typeface="Calibri" pitchFamily="34" charset="-120"/>
              </a:rPr>
              <a:t>Markets Covered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Business Context &amp; Challenge</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000" i="1" dirty="0">
                <a:solidFill>
                  <a:srgbClr val="B8C8E4"/>
                </a:solidFill>
                <a:latin typeface="Calibri" pitchFamily="34" charset="0"/>
                <a:ea typeface="Calibri" pitchFamily="34" charset="-122"/>
                <a:cs typeface="Calibri" pitchFamily="34" charset="-120"/>
              </a:rPr>
              <a:t>Why AtliQ Hardware Needs Data-Driven Decision Making</a:t>
            </a:r>
            <a:endParaRPr lang="en-US" sz="1000" dirty="0"/>
          </a:p>
        </p:txBody>
      </p:sp>
      <p:sp>
        <p:nvSpPr>
          <p:cNvPr id="6" name="Shape 4"/>
          <p:cNvSpPr/>
          <p:nvPr/>
        </p:nvSpPr>
        <p:spPr>
          <a:xfrm>
            <a:off x="365760" y="960120"/>
            <a:ext cx="4114800" cy="36576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txBody>
          <a:bodyPr/>
          <a:lstStyle/>
          <a:p>
            <a:endParaRPr lang="en-US" dirty="0"/>
          </a:p>
        </p:txBody>
      </p:sp>
      <p:sp>
        <p:nvSpPr>
          <p:cNvPr id="7" name="Shape 5"/>
          <p:cNvSpPr/>
          <p:nvPr/>
        </p:nvSpPr>
        <p:spPr>
          <a:xfrm>
            <a:off x="320040" y="960120"/>
            <a:ext cx="4114800" cy="54864"/>
          </a:xfrm>
          <a:prstGeom prst="rect">
            <a:avLst/>
          </a:prstGeom>
          <a:solidFill>
            <a:srgbClr val="1B6CA8"/>
          </a:solidFill>
          <a:ln w="12700">
            <a:solidFill>
              <a:srgbClr val="1B6CA8"/>
            </a:solidFill>
            <a:prstDash val="solid"/>
          </a:ln>
        </p:spPr>
      </p:sp>
      <p:sp>
        <p:nvSpPr>
          <p:cNvPr id="8" name="Text 6"/>
          <p:cNvSpPr/>
          <p:nvPr/>
        </p:nvSpPr>
        <p:spPr>
          <a:xfrm>
            <a:off x="457200" y="1051560"/>
            <a:ext cx="3749040" cy="310896"/>
          </a:xfrm>
          <a:prstGeom prst="rect">
            <a:avLst/>
          </a:prstGeom>
          <a:noFill/>
          <a:ln/>
        </p:spPr>
        <p:txBody>
          <a:bodyPr wrap="square" rtlCol="0" anchor="ctr"/>
          <a:lstStyle/>
          <a:p>
            <a:pPr marL="0" indent="0">
              <a:buNone/>
            </a:pPr>
            <a:r>
              <a:rPr lang="en-US" sz="2000" b="1" dirty="0">
                <a:solidFill>
                  <a:srgbClr val="1B6CA8"/>
                </a:solidFill>
                <a:latin typeface="Calibri" pitchFamily="34" charset="0"/>
                <a:ea typeface="Calibri" pitchFamily="34" charset="-122"/>
                <a:cs typeface="Calibri" pitchFamily="34" charset="-120"/>
              </a:rPr>
              <a:t>Company Overview</a:t>
            </a:r>
            <a:endParaRPr lang="en-US" sz="2000" dirty="0"/>
          </a:p>
        </p:txBody>
      </p:sp>
      <p:sp>
        <p:nvSpPr>
          <p:cNvPr id="9" name="Text 7"/>
          <p:cNvSpPr/>
          <p:nvPr/>
        </p:nvSpPr>
        <p:spPr>
          <a:xfrm>
            <a:off x="457200" y="1417320"/>
            <a:ext cx="3749040" cy="3017520"/>
          </a:xfrm>
          <a:prstGeom prst="rect">
            <a:avLst/>
          </a:prstGeom>
          <a:noFill/>
          <a:ln/>
        </p:spPr>
        <p:txBody>
          <a:bodyPr wrap="square" rtlCol="0" anchor="ctr"/>
          <a:lstStyle/>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Leading computer hardware manufacturer in India</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Expanded into international markets: APAC, EU &amp; NA</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Products span Peripherals, Accessories, Networking &amp; Storage</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Serves customers via Retailer, Direct &amp; Distributor channels</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Rapid growth outpacing current analytics capabilities</a:t>
            </a:r>
            <a:endParaRPr lang="en-US" sz="1100" dirty="0"/>
          </a:p>
        </p:txBody>
      </p:sp>
      <p:sp>
        <p:nvSpPr>
          <p:cNvPr id="10" name="Shape 8"/>
          <p:cNvSpPr/>
          <p:nvPr/>
        </p:nvSpPr>
        <p:spPr>
          <a:xfrm>
            <a:off x="4709160" y="960120"/>
            <a:ext cx="4114800" cy="36576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1" name="Shape 9"/>
          <p:cNvSpPr/>
          <p:nvPr/>
        </p:nvSpPr>
        <p:spPr>
          <a:xfrm>
            <a:off x="4709160" y="960120"/>
            <a:ext cx="4114800" cy="54864"/>
          </a:xfrm>
          <a:prstGeom prst="rect">
            <a:avLst/>
          </a:prstGeom>
          <a:solidFill>
            <a:srgbClr val="D4860B"/>
          </a:solidFill>
          <a:ln w="12700">
            <a:solidFill>
              <a:srgbClr val="D4860B"/>
            </a:solidFill>
            <a:prstDash val="solid"/>
          </a:ln>
        </p:spPr>
      </p:sp>
      <p:sp>
        <p:nvSpPr>
          <p:cNvPr id="12" name="Text 10"/>
          <p:cNvSpPr/>
          <p:nvPr/>
        </p:nvSpPr>
        <p:spPr>
          <a:xfrm>
            <a:off x="4846320" y="1051560"/>
            <a:ext cx="3749040" cy="310896"/>
          </a:xfrm>
          <a:prstGeom prst="rect">
            <a:avLst/>
          </a:prstGeom>
          <a:noFill/>
          <a:ln/>
        </p:spPr>
        <p:txBody>
          <a:bodyPr wrap="square" rtlCol="0" anchor="ctr"/>
          <a:lstStyle/>
          <a:p>
            <a:pPr marL="0" indent="0">
              <a:buNone/>
            </a:pPr>
            <a:r>
              <a:rPr lang="en-US" sz="2000" b="1" dirty="0">
                <a:solidFill>
                  <a:srgbClr val="D4860B"/>
                </a:solidFill>
                <a:latin typeface="Calibri" pitchFamily="34" charset="0"/>
                <a:ea typeface="Calibri" pitchFamily="34" charset="-122"/>
                <a:cs typeface="Calibri" pitchFamily="34" charset="-120"/>
              </a:rPr>
              <a:t>The Challenge</a:t>
            </a:r>
            <a:endParaRPr lang="en-US" sz="2000" dirty="0"/>
          </a:p>
        </p:txBody>
      </p:sp>
      <p:sp>
        <p:nvSpPr>
          <p:cNvPr id="13" name="Text 11"/>
          <p:cNvSpPr/>
          <p:nvPr/>
        </p:nvSpPr>
        <p:spPr>
          <a:xfrm>
            <a:off x="4846320" y="1417320"/>
            <a:ext cx="3749040" cy="3017520"/>
          </a:xfrm>
          <a:prstGeom prst="rect">
            <a:avLst/>
          </a:prstGeom>
          <a:noFill/>
          <a:ln/>
        </p:spPr>
        <p:txBody>
          <a:bodyPr wrap="square" rtlCol="0" anchor="ctr"/>
          <a:lstStyle/>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Management lacks quick, data-informed business visibility</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Decisions delayed due to absence of consolidated insights</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No unified view of sales, margins or channel performance</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Growing product portfolio requires granular segment analysis</a:t>
            </a:r>
            <a:endParaRPr lang="en-US" sz="1100" dirty="0"/>
          </a:p>
          <a:p>
            <a:pPr marL="342900" indent="-342900">
              <a:spcAft>
                <a:spcPts val="500"/>
              </a:spcAft>
              <a:buSzPct val="100000"/>
              <a:buChar char="•"/>
            </a:pPr>
            <a:r>
              <a:rPr lang="en-US" sz="1100" dirty="0">
                <a:solidFill>
                  <a:srgbClr val="1A2233"/>
                </a:solidFill>
                <a:latin typeface="Calibri" pitchFamily="34" charset="0"/>
                <a:ea typeface="Calibri" pitchFamily="34" charset="-122"/>
                <a:cs typeface="Calibri" pitchFamily="34" charset="-120"/>
              </a:rPr>
              <a:t>Tony Sharma (Director, Data Analytics) is building a world-class analytics team to fix this</a:t>
            </a:r>
            <a:endParaRPr lang="en-US" sz="1100" dirty="0"/>
          </a:p>
        </p:txBody>
      </p:sp>
      <p:sp>
        <p:nvSpPr>
          <p:cNvPr id="14" name="Shape 12"/>
          <p:cNvSpPr/>
          <p:nvPr/>
        </p:nvSpPr>
        <p:spPr>
          <a:xfrm>
            <a:off x="320040" y="4709160"/>
            <a:ext cx="2651760" cy="329184"/>
          </a:xfrm>
          <a:prstGeom prst="rect">
            <a:avLst/>
          </a:prstGeom>
          <a:solidFill>
            <a:srgbClr val="1B6CA8"/>
          </a:solidFill>
          <a:ln w="12700">
            <a:solidFill>
              <a:srgbClr val="1B6CA8"/>
            </a:solidFill>
            <a:prstDash val="solid"/>
          </a:ln>
        </p:spPr>
      </p:sp>
      <p:sp>
        <p:nvSpPr>
          <p:cNvPr id="15" name="Text 13"/>
          <p:cNvSpPr/>
          <p:nvPr/>
        </p:nvSpPr>
        <p:spPr>
          <a:xfrm>
            <a:off x="320040" y="4709160"/>
            <a:ext cx="2651760"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27+  Markets</a:t>
            </a:r>
            <a:endParaRPr lang="en-US" sz="1300" dirty="0"/>
          </a:p>
        </p:txBody>
      </p:sp>
      <p:sp>
        <p:nvSpPr>
          <p:cNvPr id="16" name="Shape 14"/>
          <p:cNvSpPr/>
          <p:nvPr/>
        </p:nvSpPr>
        <p:spPr>
          <a:xfrm>
            <a:off x="3154680" y="4709160"/>
            <a:ext cx="2651760" cy="329184"/>
          </a:xfrm>
          <a:prstGeom prst="rect">
            <a:avLst/>
          </a:prstGeom>
          <a:solidFill>
            <a:srgbClr val="1E8A5E"/>
          </a:solidFill>
          <a:ln w="12700">
            <a:solidFill>
              <a:srgbClr val="1E8A5E"/>
            </a:solidFill>
            <a:prstDash val="solid"/>
          </a:ln>
        </p:spPr>
      </p:sp>
      <p:sp>
        <p:nvSpPr>
          <p:cNvPr id="17" name="Text 15"/>
          <p:cNvSpPr/>
          <p:nvPr/>
        </p:nvSpPr>
        <p:spPr>
          <a:xfrm>
            <a:off x="3154680" y="4709160"/>
            <a:ext cx="2651760"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75+  Customers</a:t>
            </a:r>
            <a:endParaRPr lang="en-US" sz="1300" dirty="0"/>
          </a:p>
        </p:txBody>
      </p:sp>
      <p:sp>
        <p:nvSpPr>
          <p:cNvPr id="18" name="Shape 16"/>
          <p:cNvSpPr/>
          <p:nvPr/>
        </p:nvSpPr>
        <p:spPr>
          <a:xfrm>
            <a:off x="5989320" y="4709160"/>
            <a:ext cx="2651760" cy="329184"/>
          </a:xfrm>
          <a:prstGeom prst="rect">
            <a:avLst/>
          </a:prstGeom>
          <a:solidFill>
            <a:srgbClr val="D4860B"/>
          </a:solidFill>
          <a:ln w="12700">
            <a:solidFill>
              <a:srgbClr val="D4860B"/>
            </a:solidFill>
            <a:prstDash val="solid"/>
          </a:ln>
        </p:spPr>
      </p:sp>
      <p:sp>
        <p:nvSpPr>
          <p:cNvPr id="19" name="Text 17"/>
          <p:cNvSpPr/>
          <p:nvPr/>
        </p:nvSpPr>
        <p:spPr>
          <a:xfrm>
            <a:off x="5989320" y="4709160"/>
            <a:ext cx="2651760" cy="329184"/>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397+  Products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Approach &amp; Methodology</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000" i="1" dirty="0">
                <a:solidFill>
                  <a:srgbClr val="B8C8E4"/>
                </a:solidFill>
                <a:latin typeface="Calibri" pitchFamily="34" charset="0"/>
                <a:ea typeface="Calibri" pitchFamily="34" charset="-122"/>
                <a:cs typeface="Calibri" pitchFamily="34" charset="-120"/>
              </a:rPr>
              <a:t>From Business Requirements to Executive Insights</a:t>
            </a:r>
            <a:endParaRPr lang="en-US" sz="1000" dirty="0"/>
          </a:p>
        </p:txBody>
      </p:sp>
      <p:sp>
        <p:nvSpPr>
          <p:cNvPr id="6" name="Shape 4"/>
          <p:cNvSpPr/>
          <p:nvPr/>
        </p:nvSpPr>
        <p:spPr>
          <a:xfrm>
            <a:off x="274320" y="1005840"/>
            <a:ext cx="1572768" cy="37490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7" name="Shape 5"/>
          <p:cNvSpPr/>
          <p:nvPr/>
        </p:nvSpPr>
        <p:spPr>
          <a:xfrm>
            <a:off x="274320" y="1005840"/>
            <a:ext cx="1572768" cy="64008"/>
          </a:xfrm>
          <a:prstGeom prst="rect">
            <a:avLst/>
          </a:prstGeom>
          <a:solidFill>
            <a:srgbClr val="1B6CA8"/>
          </a:solidFill>
          <a:ln w="12700">
            <a:solidFill>
              <a:srgbClr val="1B6CA8"/>
            </a:solidFill>
            <a:prstDash val="solid"/>
          </a:ln>
        </p:spPr>
      </p:sp>
      <p:sp>
        <p:nvSpPr>
          <p:cNvPr id="8" name="Text 6"/>
          <p:cNvSpPr/>
          <p:nvPr/>
        </p:nvSpPr>
        <p:spPr>
          <a:xfrm>
            <a:off x="274320" y="1115568"/>
            <a:ext cx="1572768" cy="475488"/>
          </a:xfrm>
          <a:prstGeom prst="rect">
            <a:avLst/>
          </a:prstGeom>
          <a:noFill/>
          <a:ln/>
        </p:spPr>
        <p:txBody>
          <a:bodyPr wrap="square" rtlCol="0" anchor="ctr"/>
          <a:lstStyle/>
          <a:p>
            <a:pPr marL="0" indent="0" algn="ctr">
              <a:buNone/>
            </a:pPr>
            <a:r>
              <a:rPr lang="en-US" sz="2800" b="1" dirty="0">
                <a:solidFill>
                  <a:srgbClr val="1B6CA8"/>
                </a:solidFill>
                <a:latin typeface="Calibri" pitchFamily="34" charset="0"/>
                <a:ea typeface="Calibri" pitchFamily="34" charset="-122"/>
                <a:cs typeface="Calibri" pitchFamily="34" charset="-120"/>
              </a:rPr>
              <a:t>01</a:t>
            </a:r>
            <a:endParaRPr lang="en-US" sz="2800" dirty="0"/>
          </a:p>
        </p:txBody>
      </p:sp>
      <p:sp>
        <p:nvSpPr>
          <p:cNvPr id="9" name="Text 7"/>
          <p:cNvSpPr/>
          <p:nvPr/>
        </p:nvSpPr>
        <p:spPr>
          <a:xfrm>
            <a:off x="365760" y="1627632"/>
            <a:ext cx="1389888" cy="475488"/>
          </a:xfrm>
          <a:prstGeom prst="rect">
            <a:avLst/>
          </a:prstGeom>
          <a:noFill/>
          <a:ln/>
        </p:spPr>
        <p:txBody>
          <a:bodyPr wrap="square"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Business Requirements</a:t>
            </a:r>
            <a:endParaRPr lang="en-US" sz="1200" dirty="0"/>
          </a:p>
        </p:txBody>
      </p:sp>
      <p:sp>
        <p:nvSpPr>
          <p:cNvPr id="10" name="Text 8"/>
          <p:cNvSpPr/>
          <p:nvPr/>
        </p:nvSpPr>
        <p:spPr>
          <a:xfrm>
            <a:off x="365760" y="2148840"/>
            <a:ext cx="1389888" cy="2468880"/>
          </a:xfrm>
          <a:prstGeom prst="rect">
            <a:avLst/>
          </a:prstGeom>
          <a:noFill/>
          <a:ln/>
        </p:spPr>
        <p:txBody>
          <a:bodyPr wrap="square" rtlCol="0" anchor="ctr"/>
          <a:lstStyle/>
          <a:p>
            <a:pPr marL="0" indent="0" algn="ctr">
              <a:buNone/>
            </a:pPr>
            <a:r>
              <a:rPr lang="en-US" sz="1200" dirty="0">
                <a:solidFill>
                  <a:srgbClr val="3D5175"/>
                </a:solidFill>
                <a:latin typeface="Calibri" pitchFamily="34" charset="0"/>
                <a:ea typeface="Calibri" pitchFamily="34" charset="-122"/>
                <a:cs typeface="Calibri" pitchFamily="34" charset="-120"/>
              </a:rPr>
              <a:t>Reviewed 10 ad-hoc management requests to understand business intent and define success metrics.</a:t>
            </a:r>
            <a:endParaRPr lang="en-US" sz="1200" dirty="0"/>
          </a:p>
        </p:txBody>
      </p:sp>
      <p:sp>
        <p:nvSpPr>
          <p:cNvPr id="11" name="Text 9"/>
          <p:cNvSpPr/>
          <p:nvPr/>
        </p:nvSpPr>
        <p:spPr>
          <a:xfrm>
            <a:off x="1755648" y="2606040"/>
            <a:ext cx="292608" cy="274320"/>
          </a:xfrm>
          <a:prstGeom prst="rect">
            <a:avLst/>
          </a:prstGeom>
          <a:noFill/>
          <a:ln/>
        </p:spPr>
        <p:txBody>
          <a:bodyPr wrap="square" rtlCol="0" anchor="ctr"/>
          <a:lstStyle/>
          <a:p>
            <a:pPr marL="0" indent="0" algn="ctr">
              <a:buNone/>
            </a:pPr>
            <a:r>
              <a:rPr lang="en-US" sz="1400" dirty="0">
                <a:solidFill>
                  <a:srgbClr val="7A90B0"/>
                </a:solidFill>
              </a:rPr>
              <a:t>→</a:t>
            </a:r>
            <a:endParaRPr lang="en-US" sz="1400" dirty="0"/>
          </a:p>
        </p:txBody>
      </p:sp>
      <p:sp>
        <p:nvSpPr>
          <p:cNvPr id="12" name="Shape 10"/>
          <p:cNvSpPr/>
          <p:nvPr/>
        </p:nvSpPr>
        <p:spPr>
          <a:xfrm>
            <a:off x="2011680" y="1005840"/>
            <a:ext cx="1572768" cy="37490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3" name="Shape 11"/>
          <p:cNvSpPr/>
          <p:nvPr/>
        </p:nvSpPr>
        <p:spPr>
          <a:xfrm>
            <a:off x="2011680" y="1005840"/>
            <a:ext cx="1572768" cy="64008"/>
          </a:xfrm>
          <a:prstGeom prst="rect">
            <a:avLst/>
          </a:prstGeom>
          <a:solidFill>
            <a:srgbClr val="1E8A5E"/>
          </a:solidFill>
          <a:ln w="12700">
            <a:solidFill>
              <a:srgbClr val="1E8A5E"/>
            </a:solidFill>
            <a:prstDash val="solid"/>
          </a:ln>
        </p:spPr>
      </p:sp>
      <p:sp>
        <p:nvSpPr>
          <p:cNvPr id="14" name="Text 12"/>
          <p:cNvSpPr/>
          <p:nvPr/>
        </p:nvSpPr>
        <p:spPr>
          <a:xfrm>
            <a:off x="2011680" y="1115568"/>
            <a:ext cx="1572768" cy="475488"/>
          </a:xfrm>
          <a:prstGeom prst="rect">
            <a:avLst/>
          </a:prstGeom>
          <a:noFill/>
          <a:ln/>
        </p:spPr>
        <p:txBody>
          <a:bodyPr wrap="square" rtlCol="0" anchor="ctr"/>
          <a:lstStyle/>
          <a:p>
            <a:pPr marL="0" indent="0" algn="ctr">
              <a:buNone/>
            </a:pPr>
            <a:r>
              <a:rPr lang="en-US" sz="2800" b="1" dirty="0">
                <a:solidFill>
                  <a:srgbClr val="1E8A5E"/>
                </a:solidFill>
                <a:latin typeface="Calibri" pitchFamily="34" charset="0"/>
                <a:ea typeface="Calibri" pitchFamily="34" charset="-122"/>
                <a:cs typeface="Calibri" pitchFamily="34" charset="-120"/>
              </a:rPr>
              <a:t>02</a:t>
            </a:r>
            <a:endParaRPr lang="en-US" sz="2800" dirty="0"/>
          </a:p>
        </p:txBody>
      </p:sp>
      <p:sp>
        <p:nvSpPr>
          <p:cNvPr id="15" name="Text 13"/>
          <p:cNvSpPr/>
          <p:nvPr/>
        </p:nvSpPr>
        <p:spPr>
          <a:xfrm>
            <a:off x="2103120" y="1627632"/>
            <a:ext cx="1389888" cy="475488"/>
          </a:xfrm>
          <a:prstGeom prst="rect">
            <a:avLst/>
          </a:prstGeom>
          <a:noFill/>
          <a:ln/>
        </p:spPr>
        <p:txBody>
          <a:bodyPr wrap="square"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Data Exploration</a:t>
            </a:r>
            <a:endParaRPr lang="en-US" sz="1200" dirty="0"/>
          </a:p>
        </p:txBody>
      </p:sp>
      <p:sp>
        <p:nvSpPr>
          <p:cNvPr id="16" name="Text 14"/>
          <p:cNvSpPr/>
          <p:nvPr/>
        </p:nvSpPr>
        <p:spPr>
          <a:xfrm>
            <a:off x="2103120" y="2148840"/>
            <a:ext cx="1389888" cy="2468880"/>
          </a:xfrm>
          <a:prstGeom prst="rect">
            <a:avLst/>
          </a:prstGeom>
          <a:noFill/>
          <a:ln/>
        </p:spPr>
        <p:txBody>
          <a:bodyPr wrap="square" rtlCol="0" anchor="ctr"/>
          <a:lstStyle/>
          <a:p>
            <a:pPr marL="0" indent="0" algn="ctr">
              <a:buNone/>
            </a:pPr>
            <a:r>
              <a:rPr lang="en-US" sz="1200" dirty="0">
                <a:solidFill>
                  <a:srgbClr val="3D5175"/>
                </a:solidFill>
                <a:latin typeface="Calibri" pitchFamily="34" charset="0"/>
                <a:ea typeface="Calibri" pitchFamily="34" charset="-122"/>
                <a:cs typeface="Calibri" pitchFamily="34" charset="-120"/>
              </a:rPr>
              <a:t>Profiled fact and dimension tables — understanding schema, relationships, and data quality.</a:t>
            </a:r>
            <a:endParaRPr lang="en-US" sz="1200" dirty="0"/>
          </a:p>
        </p:txBody>
      </p:sp>
      <p:sp>
        <p:nvSpPr>
          <p:cNvPr id="17" name="Text 15"/>
          <p:cNvSpPr/>
          <p:nvPr/>
        </p:nvSpPr>
        <p:spPr>
          <a:xfrm>
            <a:off x="3493008" y="2606040"/>
            <a:ext cx="292608" cy="274320"/>
          </a:xfrm>
          <a:prstGeom prst="rect">
            <a:avLst/>
          </a:prstGeom>
          <a:noFill/>
          <a:ln/>
        </p:spPr>
        <p:txBody>
          <a:bodyPr wrap="square" rtlCol="0" anchor="ctr"/>
          <a:lstStyle/>
          <a:p>
            <a:pPr marL="0" indent="0" algn="ctr">
              <a:buNone/>
            </a:pPr>
            <a:r>
              <a:rPr lang="en-US" sz="1400" dirty="0">
                <a:solidFill>
                  <a:srgbClr val="7A90B0"/>
                </a:solidFill>
              </a:rPr>
              <a:t>→</a:t>
            </a:r>
            <a:endParaRPr lang="en-US" sz="1400" dirty="0"/>
          </a:p>
        </p:txBody>
      </p:sp>
      <p:sp>
        <p:nvSpPr>
          <p:cNvPr id="18" name="Shape 16"/>
          <p:cNvSpPr/>
          <p:nvPr/>
        </p:nvSpPr>
        <p:spPr>
          <a:xfrm>
            <a:off x="3749040" y="1005840"/>
            <a:ext cx="1572768" cy="37490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9" name="Shape 17"/>
          <p:cNvSpPr/>
          <p:nvPr/>
        </p:nvSpPr>
        <p:spPr>
          <a:xfrm>
            <a:off x="3749040" y="1005840"/>
            <a:ext cx="1572768" cy="64008"/>
          </a:xfrm>
          <a:prstGeom prst="rect">
            <a:avLst/>
          </a:prstGeom>
          <a:solidFill>
            <a:srgbClr val="D4860B"/>
          </a:solidFill>
          <a:ln w="12700">
            <a:solidFill>
              <a:srgbClr val="D4860B"/>
            </a:solidFill>
            <a:prstDash val="solid"/>
          </a:ln>
        </p:spPr>
      </p:sp>
      <p:sp>
        <p:nvSpPr>
          <p:cNvPr id="20" name="Text 18"/>
          <p:cNvSpPr/>
          <p:nvPr/>
        </p:nvSpPr>
        <p:spPr>
          <a:xfrm>
            <a:off x="3749040" y="1115568"/>
            <a:ext cx="1572768" cy="475488"/>
          </a:xfrm>
          <a:prstGeom prst="rect">
            <a:avLst/>
          </a:prstGeom>
          <a:noFill/>
          <a:ln/>
        </p:spPr>
        <p:txBody>
          <a:bodyPr wrap="square" rtlCol="0" anchor="ctr"/>
          <a:lstStyle/>
          <a:p>
            <a:pPr marL="0" indent="0" algn="ctr">
              <a:buNone/>
            </a:pPr>
            <a:r>
              <a:rPr lang="en-US" sz="2800" b="1" dirty="0">
                <a:solidFill>
                  <a:srgbClr val="D4860B"/>
                </a:solidFill>
                <a:latin typeface="Calibri" pitchFamily="34" charset="0"/>
                <a:ea typeface="Calibri" pitchFamily="34" charset="-122"/>
                <a:cs typeface="Calibri" pitchFamily="34" charset="-120"/>
              </a:rPr>
              <a:t>03</a:t>
            </a:r>
            <a:endParaRPr lang="en-US" sz="2800" dirty="0"/>
          </a:p>
        </p:txBody>
      </p:sp>
      <p:sp>
        <p:nvSpPr>
          <p:cNvPr id="21" name="Text 19"/>
          <p:cNvSpPr/>
          <p:nvPr/>
        </p:nvSpPr>
        <p:spPr>
          <a:xfrm>
            <a:off x="3840480" y="1627632"/>
            <a:ext cx="1389888" cy="475488"/>
          </a:xfrm>
          <a:prstGeom prst="rect">
            <a:avLst/>
          </a:prstGeom>
          <a:noFill/>
          <a:ln/>
        </p:spPr>
        <p:txBody>
          <a:bodyPr wrap="square"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SQL Analysis</a:t>
            </a:r>
            <a:endParaRPr lang="en-US" sz="1200" dirty="0"/>
          </a:p>
        </p:txBody>
      </p:sp>
      <p:sp>
        <p:nvSpPr>
          <p:cNvPr id="22" name="Text 20"/>
          <p:cNvSpPr/>
          <p:nvPr/>
        </p:nvSpPr>
        <p:spPr>
          <a:xfrm>
            <a:off x="3840480" y="2148840"/>
            <a:ext cx="1389888" cy="2468880"/>
          </a:xfrm>
          <a:prstGeom prst="rect">
            <a:avLst/>
          </a:prstGeom>
          <a:noFill/>
          <a:ln/>
        </p:spPr>
        <p:txBody>
          <a:bodyPr wrap="square" rtlCol="0" anchor="ctr"/>
          <a:lstStyle/>
          <a:p>
            <a:pPr marL="0" indent="0" algn="ctr">
              <a:buNone/>
            </a:pPr>
            <a:r>
              <a:rPr lang="en-US" sz="1200" dirty="0">
                <a:solidFill>
                  <a:srgbClr val="3D5175"/>
                </a:solidFill>
                <a:latin typeface="Calibri" pitchFamily="34" charset="0"/>
                <a:ea typeface="Calibri" pitchFamily="34" charset="-122"/>
                <a:cs typeface="Calibri" pitchFamily="34" charset="-120"/>
              </a:rPr>
              <a:t>Wrote optimised MySQL queries using JOINs, CTEs, Window Functions, and aggregations.</a:t>
            </a:r>
            <a:endParaRPr lang="en-US" sz="1200" dirty="0"/>
          </a:p>
        </p:txBody>
      </p:sp>
      <p:sp>
        <p:nvSpPr>
          <p:cNvPr id="23" name="Text 21"/>
          <p:cNvSpPr/>
          <p:nvPr/>
        </p:nvSpPr>
        <p:spPr>
          <a:xfrm>
            <a:off x="5230368" y="2606040"/>
            <a:ext cx="292608" cy="274320"/>
          </a:xfrm>
          <a:prstGeom prst="rect">
            <a:avLst/>
          </a:prstGeom>
          <a:noFill/>
          <a:ln/>
        </p:spPr>
        <p:txBody>
          <a:bodyPr wrap="square" rtlCol="0" anchor="ctr"/>
          <a:lstStyle/>
          <a:p>
            <a:pPr marL="0" indent="0" algn="ctr">
              <a:buNone/>
            </a:pPr>
            <a:r>
              <a:rPr lang="en-US" sz="1400" dirty="0">
                <a:solidFill>
                  <a:srgbClr val="7A90B0"/>
                </a:solidFill>
              </a:rPr>
              <a:t>→</a:t>
            </a:r>
            <a:endParaRPr lang="en-US" sz="1400" dirty="0"/>
          </a:p>
        </p:txBody>
      </p:sp>
      <p:sp>
        <p:nvSpPr>
          <p:cNvPr id="24" name="Shape 22"/>
          <p:cNvSpPr/>
          <p:nvPr/>
        </p:nvSpPr>
        <p:spPr>
          <a:xfrm>
            <a:off x="5486400" y="1069848"/>
            <a:ext cx="1572768" cy="37490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5" name="Shape 23"/>
          <p:cNvSpPr/>
          <p:nvPr/>
        </p:nvSpPr>
        <p:spPr>
          <a:xfrm>
            <a:off x="5486400" y="1005840"/>
            <a:ext cx="1572768" cy="64008"/>
          </a:xfrm>
          <a:prstGeom prst="rect">
            <a:avLst/>
          </a:prstGeom>
          <a:solidFill>
            <a:srgbClr val="7B4FC9"/>
          </a:solidFill>
          <a:ln w="12700">
            <a:solidFill>
              <a:srgbClr val="7B4FC9"/>
            </a:solidFill>
            <a:prstDash val="solid"/>
          </a:ln>
        </p:spPr>
      </p:sp>
      <p:sp>
        <p:nvSpPr>
          <p:cNvPr id="26" name="Text 24"/>
          <p:cNvSpPr/>
          <p:nvPr/>
        </p:nvSpPr>
        <p:spPr>
          <a:xfrm>
            <a:off x="5486400" y="1115568"/>
            <a:ext cx="1572768" cy="475488"/>
          </a:xfrm>
          <a:prstGeom prst="rect">
            <a:avLst/>
          </a:prstGeom>
          <a:noFill/>
          <a:ln/>
        </p:spPr>
        <p:txBody>
          <a:bodyPr wrap="square" rtlCol="0" anchor="ctr"/>
          <a:lstStyle/>
          <a:p>
            <a:pPr marL="0" indent="0" algn="ctr">
              <a:buNone/>
            </a:pPr>
            <a:r>
              <a:rPr lang="en-US" sz="2800" b="1" dirty="0">
                <a:solidFill>
                  <a:srgbClr val="7B4FC9"/>
                </a:solidFill>
                <a:latin typeface="Calibri" pitchFamily="34" charset="0"/>
                <a:ea typeface="Calibri" pitchFamily="34" charset="-122"/>
                <a:cs typeface="Calibri" pitchFamily="34" charset="-120"/>
              </a:rPr>
              <a:t>04</a:t>
            </a:r>
            <a:endParaRPr lang="en-US" sz="2800" dirty="0"/>
          </a:p>
        </p:txBody>
      </p:sp>
      <p:sp>
        <p:nvSpPr>
          <p:cNvPr id="27" name="Text 25"/>
          <p:cNvSpPr/>
          <p:nvPr/>
        </p:nvSpPr>
        <p:spPr>
          <a:xfrm>
            <a:off x="5577840" y="1627632"/>
            <a:ext cx="1389888" cy="475488"/>
          </a:xfrm>
          <a:prstGeom prst="rect">
            <a:avLst/>
          </a:prstGeom>
          <a:noFill/>
          <a:ln/>
        </p:spPr>
        <p:txBody>
          <a:bodyPr wrap="square"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Insight Generation</a:t>
            </a:r>
            <a:endParaRPr lang="en-US" sz="1200" dirty="0"/>
          </a:p>
        </p:txBody>
      </p:sp>
      <p:sp>
        <p:nvSpPr>
          <p:cNvPr id="28" name="Text 26"/>
          <p:cNvSpPr/>
          <p:nvPr/>
        </p:nvSpPr>
        <p:spPr>
          <a:xfrm>
            <a:off x="5577840" y="2148840"/>
            <a:ext cx="1389888" cy="2468880"/>
          </a:xfrm>
          <a:prstGeom prst="rect">
            <a:avLst/>
          </a:prstGeom>
          <a:noFill/>
          <a:ln/>
        </p:spPr>
        <p:txBody>
          <a:bodyPr wrap="square" rtlCol="0" anchor="ctr"/>
          <a:lstStyle/>
          <a:p>
            <a:pPr marL="0" indent="0" algn="ctr">
              <a:buNone/>
            </a:pPr>
            <a:r>
              <a:rPr lang="en-US" sz="1200" dirty="0">
                <a:solidFill>
                  <a:srgbClr val="3D5175"/>
                </a:solidFill>
                <a:latin typeface="Calibri" pitchFamily="34" charset="0"/>
                <a:ea typeface="Calibri" pitchFamily="34" charset="-122"/>
                <a:cs typeface="Calibri" pitchFamily="34" charset="-120"/>
              </a:rPr>
              <a:t>Converted SQL findings into business narratives with strategic recommendations for leadership.</a:t>
            </a:r>
            <a:endParaRPr lang="en-US" sz="1200" dirty="0"/>
          </a:p>
        </p:txBody>
      </p:sp>
      <p:sp>
        <p:nvSpPr>
          <p:cNvPr id="29" name="Text 27"/>
          <p:cNvSpPr/>
          <p:nvPr/>
        </p:nvSpPr>
        <p:spPr>
          <a:xfrm>
            <a:off x="6967728" y="2606040"/>
            <a:ext cx="292608" cy="274320"/>
          </a:xfrm>
          <a:prstGeom prst="rect">
            <a:avLst/>
          </a:prstGeom>
          <a:noFill/>
          <a:ln/>
        </p:spPr>
        <p:txBody>
          <a:bodyPr wrap="square" rtlCol="0" anchor="ctr"/>
          <a:lstStyle/>
          <a:p>
            <a:pPr marL="0" indent="0" algn="ctr">
              <a:buNone/>
            </a:pPr>
            <a:r>
              <a:rPr lang="en-US" sz="1400" dirty="0">
                <a:solidFill>
                  <a:srgbClr val="7A90B0"/>
                </a:solidFill>
              </a:rPr>
              <a:t>→</a:t>
            </a:r>
            <a:endParaRPr lang="en-US" sz="1400" dirty="0"/>
          </a:p>
        </p:txBody>
      </p:sp>
      <p:sp>
        <p:nvSpPr>
          <p:cNvPr id="30" name="Shape 28"/>
          <p:cNvSpPr/>
          <p:nvPr/>
        </p:nvSpPr>
        <p:spPr>
          <a:xfrm>
            <a:off x="7223760" y="1005840"/>
            <a:ext cx="1572768" cy="37490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31" name="Shape 29"/>
          <p:cNvSpPr/>
          <p:nvPr/>
        </p:nvSpPr>
        <p:spPr>
          <a:xfrm>
            <a:off x="7223760" y="1005840"/>
            <a:ext cx="1572768" cy="64008"/>
          </a:xfrm>
          <a:prstGeom prst="rect">
            <a:avLst/>
          </a:prstGeom>
          <a:solidFill>
            <a:srgbClr val="0A8B9D"/>
          </a:solidFill>
          <a:ln w="12700">
            <a:solidFill>
              <a:srgbClr val="0A8B9D"/>
            </a:solidFill>
            <a:prstDash val="solid"/>
          </a:ln>
        </p:spPr>
      </p:sp>
      <p:sp>
        <p:nvSpPr>
          <p:cNvPr id="32" name="Text 30"/>
          <p:cNvSpPr/>
          <p:nvPr/>
        </p:nvSpPr>
        <p:spPr>
          <a:xfrm>
            <a:off x="7223760" y="1115568"/>
            <a:ext cx="1572768" cy="475488"/>
          </a:xfrm>
          <a:prstGeom prst="rect">
            <a:avLst/>
          </a:prstGeom>
          <a:noFill/>
          <a:ln/>
        </p:spPr>
        <p:txBody>
          <a:bodyPr wrap="square" rtlCol="0" anchor="ctr"/>
          <a:lstStyle/>
          <a:p>
            <a:pPr marL="0" indent="0" algn="ctr">
              <a:buNone/>
            </a:pPr>
            <a:r>
              <a:rPr lang="en-US" sz="2800" b="1" dirty="0">
                <a:solidFill>
                  <a:srgbClr val="0A8B9D"/>
                </a:solidFill>
                <a:latin typeface="Calibri" pitchFamily="34" charset="0"/>
                <a:ea typeface="Calibri" pitchFamily="34" charset="-122"/>
                <a:cs typeface="Calibri" pitchFamily="34" charset="-120"/>
              </a:rPr>
              <a:t>05</a:t>
            </a:r>
            <a:endParaRPr lang="en-US" sz="2800" dirty="0"/>
          </a:p>
        </p:txBody>
      </p:sp>
      <p:sp>
        <p:nvSpPr>
          <p:cNvPr id="33" name="Text 31"/>
          <p:cNvSpPr/>
          <p:nvPr/>
        </p:nvSpPr>
        <p:spPr>
          <a:xfrm>
            <a:off x="7315200" y="1627632"/>
            <a:ext cx="1389888" cy="475488"/>
          </a:xfrm>
          <a:prstGeom prst="rect">
            <a:avLst/>
          </a:prstGeom>
          <a:noFill/>
          <a:ln/>
        </p:spPr>
        <p:txBody>
          <a:bodyPr wrap="square"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Presentation</a:t>
            </a:r>
            <a:endParaRPr lang="en-US" sz="1200" dirty="0"/>
          </a:p>
        </p:txBody>
      </p:sp>
      <p:sp>
        <p:nvSpPr>
          <p:cNvPr id="34" name="Text 32"/>
          <p:cNvSpPr/>
          <p:nvPr/>
        </p:nvSpPr>
        <p:spPr>
          <a:xfrm>
            <a:off x="7315200" y="2148840"/>
            <a:ext cx="1389888" cy="2468880"/>
          </a:xfrm>
          <a:prstGeom prst="rect">
            <a:avLst/>
          </a:prstGeom>
          <a:noFill/>
          <a:ln/>
        </p:spPr>
        <p:txBody>
          <a:bodyPr wrap="square" rtlCol="0" anchor="ctr"/>
          <a:lstStyle/>
          <a:p>
            <a:pPr marL="0" indent="0" algn="ctr">
              <a:buNone/>
            </a:pPr>
            <a:r>
              <a:rPr lang="en-US" sz="1200" dirty="0">
                <a:solidFill>
                  <a:srgbClr val="3D5175"/>
                </a:solidFill>
                <a:latin typeface="Calibri" pitchFamily="34" charset="0"/>
                <a:ea typeface="Calibri" pitchFamily="34" charset="-122"/>
                <a:cs typeface="Calibri" pitchFamily="34" charset="-120"/>
              </a:rPr>
              <a:t>Structured insights into an executive-level consulting-style presentation for stakeholders</a:t>
            </a:r>
            <a:r>
              <a:rPr lang="en-US" sz="900" dirty="0">
                <a:solidFill>
                  <a:srgbClr val="3D5175"/>
                </a:solidFill>
                <a:latin typeface="Calibri" pitchFamily="34" charset="0"/>
                <a:ea typeface="Calibri" pitchFamily="34" charset="-122"/>
                <a:cs typeface="Calibri" pitchFamily="34" charset="-120"/>
              </a:rPr>
              <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Dataset Overview</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000" i="1" dirty="0">
                <a:solidFill>
                  <a:srgbClr val="B8C8E4"/>
                </a:solidFill>
                <a:latin typeface="Calibri" pitchFamily="34" charset="0"/>
                <a:ea typeface="Calibri" pitchFamily="34" charset="-122"/>
                <a:cs typeface="Calibri" pitchFamily="34" charset="-120"/>
              </a:rPr>
              <a:t>gdb023 — AtliQ Hardware Database Schema</a:t>
            </a:r>
            <a:endParaRPr lang="en-US" sz="1000" dirty="0"/>
          </a:p>
        </p:txBody>
      </p:sp>
      <p:sp>
        <p:nvSpPr>
          <p:cNvPr id="6" name="Shape 4"/>
          <p:cNvSpPr/>
          <p:nvPr/>
        </p:nvSpPr>
        <p:spPr>
          <a:xfrm>
            <a:off x="320040" y="960120"/>
            <a:ext cx="4023360" cy="19202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7" name="Shape 5"/>
          <p:cNvSpPr/>
          <p:nvPr/>
        </p:nvSpPr>
        <p:spPr>
          <a:xfrm>
            <a:off x="320040" y="960120"/>
            <a:ext cx="4023360" cy="54864"/>
          </a:xfrm>
          <a:prstGeom prst="rect">
            <a:avLst/>
          </a:prstGeom>
          <a:solidFill>
            <a:srgbClr val="1B6CA8"/>
          </a:solidFill>
          <a:ln w="12700">
            <a:solidFill>
              <a:srgbClr val="1B6CA8"/>
            </a:solidFill>
            <a:prstDash val="solid"/>
          </a:ln>
        </p:spPr>
      </p:sp>
      <p:sp>
        <p:nvSpPr>
          <p:cNvPr id="8" name="Text 6"/>
          <p:cNvSpPr/>
          <p:nvPr/>
        </p:nvSpPr>
        <p:spPr>
          <a:xfrm>
            <a:off x="457200" y="1042416"/>
            <a:ext cx="3657600" cy="274320"/>
          </a:xfrm>
          <a:prstGeom prst="rect">
            <a:avLst/>
          </a:prstGeom>
          <a:noFill/>
          <a:ln/>
        </p:spPr>
        <p:txBody>
          <a:bodyPr wrap="square" rtlCol="0" anchor="ctr"/>
          <a:lstStyle/>
          <a:p>
            <a:pPr marL="0" indent="0">
              <a:buNone/>
            </a:pPr>
            <a:r>
              <a:rPr lang="en-US" sz="1200" b="1" kern="0" spc="150" dirty="0">
                <a:solidFill>
                  <a:srgbClr val="1B6CA8"/>
                </a:solidFill>
                <a:latin typeface="Calibri" pitchFamily="34" charset="0"/>
                <a:ea typeface="Calibri" pitchFamily="34" charset="-122"/>
                <a:cs typeface="Calibri" pitchFamily="34" charset="-120"/>
              </a:rPr>
              <a:t>FACT TABLES</a:t>
            </a:r>
            <a:endParaRPr lang="en-US" sz="1200" dirty="0"/>
          </a:p>
        </p:txBody>
      </p:sp>
      <p:sp>
        <p:nvSpPr>
          <p:cNvPr id="9" name="Text 7"/>
          <p:cNvSpPr/>
          <p:nvPr/>
        </p:nvSpPr>
        <p:spPr>
          <a:xfrm>
            <a:off x="457200" y="1353312"/>
            <a:ext cx="3749040" cy="1417320"/>
          </a:xfrm>
          <a:prstGeom prst="rect">
            <a:avLst/>
          </a:prstGeom>
          <a:noFill/>
          <a:ln/>
        </p:spPr>
        <p:txBody>
          <a:bodyPr wrap="square" rtlCol="0" anchor="ctr"/>
          <a:lstStyle/>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fact_sales_monthly  —  Monthly quantity by customer &amp; product</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fact_gross_price  —  Product gross price by fiscal year</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fact_manufacturing_cost  —  Cost per product/year</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fact_pre_invoice_deductions  —  Pre-invoice discount %</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fact_post_invoice_deductions  —  Net sales deductions</a:t>
            </a:r>
            <a:endParaRPr lang="en-US" sz="900" dirty="0"/>
          </a:p>
        </p:txBody>
      </p:sp>
      <p:sp>
        <p:nvSpPr>
          <p:cNvPr id="10" name="Shape 8"/>
          <p:cNvSpPr/>
          <p:nvPr/>
        </p:nvSpPr>
        <p:spPr>
          <a:xfrm>
            <a:off x="320040" y="3017520"/>
            <a:ext cx="4023360" cy="16916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1" name="Shape 9"/>
          <p:cNvSpPr/>
          <p:nvPr/>
        </p:nvSpPr>
        <p:spPr>
          <a:xfrm>
            <a:off x="320040" y="3017520"/>
            <a:ext cx="4023360" cy="54864"/>
          </a:xfrm>
          <a:prstGeom prst="rect">
            <a:avLst/>
          </a:prstGeom>
          <a:solidFill>
            <a:srgbClr val="D4860B"/>
          </a:solidFill>
          <a:ln w="12700">
            <a:solidFill>
              <a:srgbClr val="D4860B"/>
            </a:solidFill>
            <a:prstDash val="solid"/>
          </a:ln>
        </p:spPr>
      </p:sp>
      <p:sp>
        <p:nvSpPr>
          <p:cNvPr id="12" name="Text 10"/>
          <p:cNvSpPr/>
          <p:nvPr/>
        </p:nvSpPr>
        <p:spPr>
          <a:xfrm>
            <a:off x="457200" y="3099816"/>
            <a:ext cx="3657600" cy="274320"/>
          </a:xfrm>
          <a:prstGeom prst="rect">
            <a:avLst/>
          </a:prstGeom>
          <a:noFill/>
          <a:ln/>
        </p:spPr>
        <p:txBody>
          <a:bodyPr wrap="square" rtlCol="0" anchor="ctr"/>
          <a:lstStyle/>
          <a:p>
            <a:pPr marL="0" indent="0">
              <a:buNone/>
            </a:pPr>
            <a:r>
              <a:rPr lang="en-US" sz="1200" b="1" kern="0" spc="150" dirty="0">
                <a:solidFill>
                  <a:srgbClr val="D4860B"/>
                </a:solidFill>
                <a:latin typeface="Calibri" pitchFamily="34" charset="0"/>
                <a:ea typeface="Calibri" pitchFamily="34" charset="-122"/>
                <a:cs typeface="Calibri" pitchFamily="34" charset="-120"/>
              </a:rPr>
              <a:t>DIMENSION TABLES</a:t>
            </a:r>
            <a:endParaRPr lang="en-US" sz="1200" dirty="0"/>
          </a:p>
        </p:txBody>
      </p:sp>
      <p:sp>
        <p:nvSpPr>
          <p:cNvPr id="13" name="Text 11"/>
          <p:cNvSpPr/>
          <p:nvPr/>
        </p:nvSpPr>
        <p:spPr>
          <a:xfrm>
            <a:off x="457200" y="3410712"/>
            <a:ext cx="3749040" cy="1234440"/>
          </a:xfrm>
          <a:prstGeom prst="rect">
            <a:avLst/>
          </a:prstGeom>
          <a:noFill/>
          <a:ln/>
        </p:spPr>
        <p:txBody>
          <a:bodyPr wrap="square" rtlCol="0" anchor="ctr"/>
          <a:lstStyle/>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dim_customer  —  Customer, market, region, channel</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dim_product  —  Product, division, segment, category</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dim_market  —  Market and sub-zone mapping</a:t>
            </a:r>
            <a:endParaRPr lang="en-US" sz="900" dirty="0"/>
          </a:p>
          <a:p>
            <a:pPr marL="342900" indent="-342900">
              <a:spcAft>
                <a:spcPts val="200"/>
              </a:spcAft>
              <a:buSzPct val="100000"/>
              <a:buChar char="•"/>
            </a:pPr>
            <a:r>
              <a:rPr lang="en-US" sz="900" dirty="0">
                <a:solidFill>
                  <a:srgbClr val="1A2233"/>
                </a:solidFill>
                <a:latin typeface="Calibri" pitchFamily="34" charset="0"/>
                <a:ea typeface="Calibri" pitchFamily="34" charset="-122"/>
                <a:cs typeface="Calibri" pitchFamily="34" charset="-120"/>
              </a:rPr>
              <a:t>dim_date  —  Calendar and fiscal year logic</a:t>
            </a:r>
            <a:endParaRPr lang="en-US" sz="900" dirty="0"/>
          </a:p>
        </p:txBody>
      </p:sp>
      <p:sp>
        <p:nvSpPr>
          <p:cNvPr id="14" name="Shape 12"/>
          <p:cNvSpPr/>
          <p:nvPr/>
        </p:nvSpPr>
        <p:spPr>
          <a:xfrm>
            <a:off x="4526280" y="960120"/>
            <a:ext cx="4297680" cy="37490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5" name="Shape 13"/>
          <p:cNvSpPr/>
          <p:nvPr/>
        </p:nvSpPr>
        <p:spPr>
          <a:xfrm>
            <a:off x="4526280" y="960120"/>
            <a:ext cx="4297680" cy="54864"/>
          </a:xfrm>
          <a:prstGeom prst="rect">
            <a:avLst/>
          </a:prstGeom>
          <a:solidFill>
            <a:srgbClr val="1E8A5E"/>
          </a:solidFill>
          <a:ln w="12700">
            <a:solidFill>
              <a:srgbClr val="1E8A5E"/>
            </a:solidFill>
            <a:prstDash val="solid"/>
          </a:ln>
        </p:spPr>
      </p:sp>
      <p:sp>
        <p:nvSpPr>
          <p:cNvPr id="16" name="Text 14"/>
          <p:cNvSpPr/>
          <p:nvPr/>
        </p:nvSpPr>
        <p:spPr>
          <a:xfrm>
            <a:off x="4663440" y="1042416"/>
            <a:ext cx="3931920" cy="274320"/>
          </a:xfrm>
          <a:prstGeom prst="rect">
            <a:avLst/>
          </a:prstGeom>
          <a:noFill/>
          <a:ln/>
        </p:spPr>
        <p:txBody>
          <a:bodyPr wrap="square" rtlCol="0" anchor="ctr"/>
          <a:lstStyle/>
          <a:p>
            <a:pPr marL="0" indent="0">
              <a:buNone/>
            </a:pPr>
            <a:r>
              <a:rPr lang="en-US" sz="1200" b="1" kern="0" spc="150" dirty="0">
                <a:solidFill>
                  <a:srgbClr val="1E8A5E"/>
                </a:solidFill>
                <a:latin typeface="Calibri" pitchFamily="34" charset="0"/>
                <a:ea typeface="Calibri" pitchFamily="34" charset="-122"/>
                <a:cs typeface="Calibri" pitchFamily="34" charset="-120"/>
              </a:rPr>
              <a:t>KEY BUSINESS METRICS</a:t>
            </a:r>
            <a:endParaRPr lang="en-US" sz="1200" dirty="0"/>
          </a:p>
        </p:txBody>
      </p:sp>
      <p:sp>
        <p:nvSpPr>
          <p:cNvPr id="17" name="Text 15"/>
          <p:cNvSpPr/>
          <p:nvPr/>
        </p:nvSpPr>
        <p:spPr>
          <a:xfrm>
            <a:off x="4663440" y="1417320"/>
            <a:ext cx="1920240" cy="274320"/>
          </a:xfrm>
          <a:prstGeom prst="rect">
            <a:avLst/>
          </a:prstGeom>
          <a:noFill/>
          <a:ln/>
        </p:spPr>
        <p:txBody>
          <a:bodyPr wrap="square" rtlCol="0" anchor="ctr"/>
          <a:lstStyle/>
          <a:p>
            <a:pPr marL="0" indent="0">
              <a:buNone/>
            </a:pPr>
            <a:r>
              <a:rPr lang="en-US" sz="1000" b="1" dirty="0">
                <a:solidFill>
                  <a:srgbClr val="1A2233"/>
                </a:solidFill>
                <a:latin typeface="Calibri" pitchFamily="34" charset="0"/>
                <a:ea typeface="Calibri" pitchFamily="34" charset="-122"/>
                <a:cs typeface="Calibri" pitchFamily="34" charset="-120"/>
              </a:rPr>
              <a:t>Gross Sales:</a:t>
            </a:r>
            <a:endParaRPr lang="en-US" sz="1000" dirty="0"/>
          </a:p>
        </p:txBody>
      </p:sp>
      <p:sp>
        <p:nvSpPr>
          <p:cNvPr id="18" name="Text 16"/>
          <p:cNvSpPr/>
          <p:nvPr/>
        </p:nvSpPr>
        <p:spPr>
          <a:xfrm>
            <a:off x="6629400" y="1417320"/>
            <a:ext cx="2057400" cy="274320"/>
          </a:xfrm>
          <a:prstGeom prst="rect">
            <a:avLst/>
          </a:prstGeom>
          <a:noFill/>
          <a:ln/>
        </p:spPr>
        <p:txBody>
          <a:bodyPr wrap="square" rtlCol="0" anchor="ctr"/>
          <a:lstStyle/>
          <a:p>
            <a:pPr marL="0" indent="0">
              <a:buNone/>
            </a:pPr>
            <a:r>
              <a:rPr lang="en-US" sz="900" dirty="0">
                <a:solidFill>
                  <a:srgbClr val="3D5175"/>
                </a:solidFill>
                <a:latin typeface="Calibri" pitchFamily="34" charset="0"/>
                <a:ea typeface="Calibri" pitchFamily="34" charset="-122"/>
                <a:cs typeface="Calibri" pitchFamily="34" charset="-120"/>
              </a:rPr>
              <a:t>Quantity × Gross Price</a:t>
            </a:r>
            <a:endParaRPr lang="en-US" sz="900" dirty="0"/>
          </a:p>
        </p:txBody>
      </p:sp>
      <p:sp>
        <p:nvSpPr>
          <p:cNvPr id="19" name="Text 17"/>
          <p:cNvSpPr/>
          <p:nvPr/>
        </p:nvSpPr>
        <p:spPr>
          <a:xfrm>
            <a:off x="4663440" y="1920240"/>
            <a:ext cx="1920240" cy="274320"/>
          </a:xfrm>
          <a:prstGeom prst="rect">
            <a:avLst/>
          </a:prstGeom>
          <a:noFill/>
          <a:ln/>
        </p:spPr>
        <p:txBody>
          <a:bodyPr wrap="square" rtlCol="0" anchor="ctr"/>
          <a:lstStyle/>
          <a:p>
            <a:pPr marL="0" indent="0">
              <a:buNone/>
            </a:pPr>
            <a:r>
              <a:rPr lang="en-US" sz="1000" b="1" dirty="0">
                <a:solidFill>
                  <a:srgbClr val="1A2233"/>
                </a:solidFill>
                <a:latin typeface="Calibri" pitchFamily="34" charset="0"/>
                <a:ea typeface="Calibri" pitchFamily="34" charset="-122"/>
                <a:cs typeface="Calibri" pitchFamily="34" charset="-120"/>
              </a:rPr>
              <a:t>Net Sales:</a:t>
            </a:r>
            <a:endParaRPr lang="en-US" sz="1000" dirty="0"/>
          </a:p>
        </p:txBody>
      </p:sp>
      <p:sp>
        <p:nvSpPr>
          <p:cNvPr id="20" name="Text 18"/>
          <p:cNvSpPr/>
          <p:nvPr/>
        </p:nvSpPr>
        <p:spPr>
          <a:xfrm>
            <a:off x="6629400" y="1920240"/>
            <a:ext cx="2057400" cy="274320"/>
          </a:xfrm>
          <a:prstGeom prst="rect">
            <a:avLst/>
          </a:prstGeom>
          <a:noFill/>
          <a:ln/>
        </p:spPr>
        <p:txBody>
          <a:bodyPr wrap="square" rtlCol="0" anchor="ctr"/>
          <a:lstStyle/>
          <a:p>
            <a:pPr marL="0" indent="0">
              <a:buNone/>
            </a:pPr>
            <a:r>
              <a:rPr lang="en-US" sz="900" dirty="0">
                <a:solidFill>
                  <a:srgbClr val="3D5175"/>
                </a:solidFill>
                <a:latin typeface="Calibri" pitchFamily="34" charset="0"/>
                <a:ea typeface="Calibri" pitchFamily="34" charset="-122"/>
                <a:cs typeface="Calibri" pitchFamily="34" charset="-120"/>
              </a:rPr>
              <a:t>Gross Sales − Pre &amp; Post Deductions</a:t>
            </a:r>
            <a:endParaRPr lang="en-US" sz="900" dirty="0"/>
          </a:p>
        </p:txBody>
      </p:sp>
      <p:sp>
        <p:nvSpPr>
          <p:cNvPr id="21" name="Text 19"/>
          <p:cNvSpPr/>
          <p:nvPr/>
        </p:nvSpPr>
        <p:spPr>
          <a:xfrm>
            <a:off x="4663440" y="2423160"/>
            <a:ext cx="1920240" cy="274320"/>
          </a:xfrm>
          <a:prstGeom prst="rect">
            <a:avLst/>
          </a:prstGeom>
          <a:noFill/>
          <a:ln/>
        </p:spPr>
        <p:txBody>
          <a:bodyPr wrap="square" rtlCol="0" anchor="ctr"/>
          <a:lstStyle/>
          <a:p>
            <a:pPr marL="0" indent="0">
              <a:buNone/>
            </a:pPr>
            <a:r>
              <a:rPr lang="en-US" sz="1000" b="1" dirty="0">
                <a:solidFill>
                  <a:srgbClr val="1A2233"/>
                </a:solidFill>
                <a:latin typeface="Calibri" pitchFamily="34" charset="0"/>
                <a:ea typeface="Calibri" pitchFamily="34" charset="-122"/>
                <a:cs typeface="Calibri" pitchFamily="34" charset="-120"/>
              </a:rPr>
              <a:t>Manufacturing Cost:</a:t>
            </a:r>
            <a:endParaRPr lang="en-US" sz="1000" dirty="0"/>
          </a:p>
        </p:txBody>
      </p:sp>
      <p:sp>
        <p:nvSpPr>
          <p:cNvPr id="22" name="Text 20"/>
          <p:cNvSpPr/>
          <p:nvPr/>
        </p:nvSpPr>
        <p:spPr>
          <a:xfrm>
            <a:off x="6629400" y="2423160"/>
            <a:ext cx="2057400" cy="274320"/>
          </a:xfrm>
          <a:prstGeom prst="rect">
            <a:avLst/>
          </a:prstGeom>
          <a:noFill/>
          <a:ln/>
        </p:spPr>
        <p:txBody>
          <a:bodyPr wrap="square" rtlCol="0" anchor="ctr"/>
          <a:lstStyle/>
          <a:p>
            <a:pPr marL="0" indent="0">
              <a:buNone/>
            </a:pPr>
            <a:r>
              <a:rPr lang="en-US" sz="900" dirty="0">
                <a:solidFill>
                  <a:srgbClr val="3D5175"/>
                </a:solidFill>
                <a:latin typeface="Calibri" pitchFamily="34" charset="0"/>
                <a:ea typeface="Calibri" pitchFamily="34" charset="-122"/>
                <a:cs typeface="Calibri" pitchFamily="34" charset="-120"/>
              </a:rPr>
              <a:t>Total cost to produce 1 unit</a:t>
            </a:r>
            <a:endParaRPr lang="en-US" sz="900" dirty="0"/>
          </a:p>
        </p:txBody>
      </p:sp>
      <p:sp>
        <p:nvSpPr>
          <p:cNvPr id="23" name="Text 21"/>
          <p:cNvSpPr/>
          <p:nvPr/>
        </p:nvSpPr>
        <p:spPr>
          <a:xfrm>
            <a:off x="4663440" y="2926080"/>
            <a:ext cx="1920240" cy="274320"/>
          </a:xfrm>
          <a:prstGeom prst="rect">
            <a:avLst/>
          </a:prstGeom>
          <a:noFill/>
          <a:ln/>
        </p:spPr>
        <p:txBody>
          <a:bodyPr wrap="square" rtlCol="0" anchor="ctr"/>
          <a:lstStyle/>
          <a:p>
            <a:pPr marL="0" indent="0">
              <a:buNone/>
            </a:pPr>
            <a:r>
              <a:rPr lang="en-US" sz="1000" b="1" dirty="0">
                <a:solidFill>
                  <a:srgbClr val="1A2233"/>
                </a:solidFill>
                <a:latin typeface="Calibri" pitchFamily="34" charset="0"/>
                <a:ea typeface="Calibri" pitchFamily="34" charset="-122"/>
                <a:cs typeface="Calibri" pitchFamily="34" charset="-120"/>
              </a:rPr>
              <a:t>Pre-Invoice Discount %:</a:t>
            </a:r>
            <a:endParaRPr lang="en-US" sz="1000" dirty="0"/>
          </a:p>
        </p:txBody>
      </p:sp>
      <p:sp>
        <p:nvSpPr>
          <p:cNvPr id="24" name="Text 22"/>
          <p:cNvSpPr/>
          <p:nvPr/>
        </p:nvSpPr>
        <p:spPr>
          <a:xfrm>
            <a:off x="6629400" y="2926080"/>
            <a:ext cx="2057400" cy="274320"/>
          </a:xfrm>
          <a:prstGeom prst="rect">
            <a:avLst/>
          </a:prstGeom>
          <a:noFill/>
          <a:ln/>
        </p:spPr>
        <p:txBody>
          <a:bodyPr wrap="square" rtlCol="0" anchor="ctr"/>
          <a:lstStyle/>
          <a:p>
            <a:pPr marL="0" indent="0">
              <a:buNone/>
            </a:pPr>
            <a:r>
              <a:rPr lang="en-US" sz="900" dirty="0">
                <a:solidFill>
                  <a:srgbClr val="3D5175"/>
                </a:solidFill>
                <a:latin typeface="Calibri" pitchFamily="34" charset="0"/>
                <a:ea typeface="Calibri" pitchFamily="34" charset="-122"/>
                <a:cs typeface="Calibri" pitchFamily="34" charset="-120"/>
              </a:rPr>
              <a:t>Negotiated discount before invoicing</a:t>
            </a:r>
            <a:endParaRPr lang="en-US" sz="900" dirty="0"/>
          </a:p>
        </p:txBody>
      </p:sp>
      <p:sp>
        <p:nvSpPr>
          <p:cNvPr id="25" name="Text 23"/>
          <p:cNvSpPr/>
          <p:nvPr/>
        </p:nvSpPr>
        <p:spPr>
          <a:xfrm>
            <a:off x="4663440" y="3429000"/>
            <a:ext cx="1920240" cy="274320"/>
          </a:xfrm>
          <a:prstGeom prst="rect">
            <a:avLst/>
          </a:prstGeom>
          <a:noFill/>
          <a:ln/>
        </p:spPr>
        <p:txBody>
          <a:bodyPr wrap="square" rtlCol="0" anchor="ctr"/>
          <a:lstStyle/>
          <a:p>
            <a:pPr marL="0" indent="0">
              <a:buNone/>
            </a:pPr>
            <a:r>
              <a:rPr lang="en-US" sz="1000" b="1" dirty="0">
                <a:solidFill>
                  <a:srgbClr val="1A2233"/>
                </a:solidFill>
                <a:latin typeface="Calibri" pitchFamily="34" charset="0"/>
                <a:ea typeface="Calibri" pitchFamily="34" charset="-122"/>
                <a:cs typeface="Calibri" pitchFamily="34" charset="-120"/>
              </a:rPr>
              <a:t>Fiscal Year:</a:t>
            </a:r>
            <a:endParaRPr lang="en-US" sz="1000" dirty="0"/>
          </a:p>
        </p:txBody>
      </p:sp>
      <p:sp>
        <p:nvSpPr>
          <p:cNvPr id="26" name="Text 24"/>
          <p:cNvSpPr/>
          <p:nvPr/>
        </p:nvSpPr>
        <p:spPr>
          <a:xfrm>
            <a:off x="6629400" y="3429000"/>
            <a:ext cx="2057400" cy="274320"/>
          </a:xfrm>
          <a:prstGeom prst="rect">
            <a:avLst/>
          </a:prstGeom>
          <a:noFill/>
          <a:ln/>
        </p:spPr>
        <p:txBody>
          <a:bodyPr wrap="square" rtlCol="0" anchor="ctr"/>
          <a:lstStyle/>
          <a:p>
            <a:pPr marL="0" indent="0">
              <a:buNone/>
            </a:pPr>
            <a:r>
              <a:rPr lang="en-US" sz="900" dirty="0">
                <a:solidFill>
                  <a:srgbClr val="3D5175"/>
                </a:solidFill>
                <a:latin typeface="Calibri" pitchFamily="34" charset="0"/>
                <a:ea typeface="Calibri" pitchFamily="34" charset="-122"/>
                <a:cs typeface="Calibri" pitchFamily="34" charset="-120"/>
              </a:rPr>
              <a:t>September to August (AtliQ convention)</a:t>
            </a:r>
            <a:endParaRPr lang="en-US" sz="900" dirty="0"/>
          </a:p>
        </p:txBody>
      </p:sp>
      <p:sp>
        <p:nvSpPr>
          <p:cNvPr id="27" name="Text 25"/>
          <p:cNvSpPr/>
          <p:nvPr/>
        </p:nvSpPr>
        <p:spPr>
          <a:xfrm>
            <a:off x="4663440" y="3931920"/>
            <a:ext cx="1920240" cy="274320"/>
          </a:xfrm>
          <a:prstGeom prst="rect">
            <a:avLst/>
          </a:prstGeom>
          <a:noFill/>
          <a:ln/>
        </p:spPr>
        <p:txBody>
          <a:bodyPr wrap="square" rtlCol="0" anchor="ctr"/>
          <a:lstStyle/>
          <a:p>
            <a:pPr marL="0" indent="0">
              <a:buNone/>
            </a:pPr>
            <a:r>
              <a:rPr lang="en-US" sz="1000" b="1" dirty="0">
                <a:solidFill>
                  <a:srgbClr val="1A2233"/>
                </a:solidFill>
                <a:latin typeface="Calibri" pitchFamily="34" charset="0"/>
                <a:ea typeface="Calibri" pitchFamily="34" charset="-122"/>
                <a:cs typeface="Calibri" pitchFamily="34" charset="-120"/>
              </a:rPr>
              <a:t>APAC Regions:</a:t>
            </a:r>
            <a:endParaRPr lang="en-US" sz="1000" dirty="0"/>
          </a:p>
        </p:txBody>
      </p:sp>
      <p:sp>
        <p:nvSpPr>
          <p:cNvPr id="28" name="Text 26"/>
          <p:cNvSpPr/>
          <p:nvPr/>
        </p:nvSpPr>
        <p:spPr>
          <a:xfrm>
            <a:off x="6629400" y="3931920"/>
            <a:ext cx="2057400" cy="274320"/>
          </a:xfrm>
          <a:prstGeom prst="rect">
            <a:avLst/>
          </a:prstGeom>
          <a:noFill/>
          <a:ln/>
        </p:spPr>
        <p:txBody>
          <a:bodyPr wrap="square" rtlCol="0" anchor="ctr"/>
          <a:lstStyle/>
          <a:p>
            <a:pPr marL="0" indent="0">
              <a:buNone/>
            </a:pPr>
            <a:r>
              <a:rPr lang="en-US" sz="900" dirty="0">
                <a:solidFill>
                  <a:srgbClr val="3D5175"/>
                </a:solidFill>
                <a:latin typeface="Calibri" pitchFamily="34" charset="0"/>
                <a:ea typeface="Calibri" pitchFamily="34" charset="-122"/>
                <a:cs typeface="Calibri" pitchFamily="34" charset="-120"/>
              </a:rPr>
              <a:t>India, South Korea, Japan, ANZ + more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Executive Summary</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000" i="1" dirty="0">
                <a:solidFill>
                  <a:srgbClr val="B8C8E4"/>
                </a:solidFill>
                <a:latin typeface="Calibri" pitchFamily="34" charset="0"/>
                <a:ea typeface="Calibri" pitchFamily="34" charset="-122"/>
                <a:cs typeface="Calibri" pitchFamily="34" charset="-120"/>
              </a:rPr>
              <a:t>Top Findings Across All 10 SQL Requests</a:t>
            </a:r>
            <a:endParaRPr lang="en-US" sz="1000" dirty="0"/>
          </a:p>
        </p:txBody>
      </p:sp>
      <p:sp>
        <p:nvSpPr>
          <p:cNvPr id="6" name="Shape 4"/>
          <p:cNvSpPr/>
          <p:nvPr/>
        </p:nvSpPr>
        <p:spPr>
          <a:xfrm>
            <a:off x="320040" y="960120"/>
            <a:ext cx="4206240" cy="12161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7" name="Shape 5"/>
          <p:cNvSpPr/>
          <p:nvPr/>
        </p:nvSpPr>
        <p:spPr>
          <a:xfrm>
            <a:off x="320040" y="960120"/>
            <a:ext cx="64008" cy="1216152"/>
          </a:xfrm>
          <a:prstGeom prst="rect">
            <a:avLst/>
          </a:prstGeom>
          <a:solidFill>
            <a:srgbClr val="1B6CA8"/>
          </a:solidFill>
          <a:ln w="12700">
            <a:solidFill>
              <a:srgbClr val="1B6CA8"/>
            </a:solidFill>
            <a:prstDash val="solid"/>
          </a:ln>
        </p:spPr>
      </p:sp>
      <p:sp>
        <p:nvSpPr>
          <p:cNvPr id="8" name="Text 6"/>
          <p:cNvSpPr/>
          <p:nvPr/>
        </p:nvSpPr>
        <p:spPr>
          <a:xfrm>
            <a:off x="521208" y="1051560"/>
            <a:ext cx="3840480" cy="274320"/>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APAC Markets</a:t>
            </a:r>
            <a:endParaRPr lang="en-US" sz="1400" dirty="0"/>
          </a:p>
        </p:txBody>
      </p:sp>
      <p:sp>
        <p:nvSpPr>
          <p:cNvPr id="9" name="Text 7"/>
          <p:cNvSpPr/>
          <p:nvPr/>
        </p:nvSpPr>
        <p:spPr>
          <a:xfrm>
            <a:off x="521208" y="1362456"/>
            <a:ext cx="3840480" cy="685800"/>
          </a:xfrm>
          <a:prstGeom prst="rect">
            <a:avLst/>
          </a:prstGeom>
          <a:noFill/>
          <a:ln/>
        </p:spPr>
        <p:txBody>
          <a:bodyPr wrap="square" rtlCol="0" anchor="ctr"/>
          <a:lstStyle/>
          <a:p>
            <a:pPr marL="0" indent="0">
              <a:buNone/>
            </a:pPr>
            <a:r>
              <a:rPr lang="en-US" sz="1050" dirty="0">
                <a:solidFill>
                  <a:srgbClr val="1A2233"/>
                </a:solidFill>
                <a:latin typeface="Calibri" pitchFamily="34" charset="0"/>
                <a:ea typeface="Calibri" pitchFamily="34" charset="-122"/>
                <a:cs typeface="Calibri" pitchFamily="34" charset="-120"/>
              </a:rPr>
              <a:t>8 markets serve Atliq Exclusive in APAC. India is the dominant hub with untapped potential in Philippines &amp; Bangladesh.</a:t>
            </a:r>
            <a:endParaRPr lang="en-US" sz="1050" dirty="0"/>
          </a:p>
        </p:txBody>
      </p:sp>
      <p:sp>
        <p:nvSpPr>
          <p:cNvPr id="10" name="Shape 8"/>
          <p:cNvSpPr/>
          <p:nvPr/>
        </p:nvSpPr>
        <p:spPr>
          <a:xfrm>
            <a:off x="320040" y="2286000"/>
            <a:ext cx="4206240" cy="12161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1" name="Shape 9"/>
          <p:cNvSpPr/>
          <p:nvPr/>
        </p:nvSpPr>
        <p:spPr>
          <a:xfrm>
            <a:off x="320040" y="2286000"/>
            <a:ext cx="64008" cy="1216152"/>
          </a:xfrm>
          <a:prstGeom prst="rect">
            <a:avLst/>
          </a:prstGeom>
          <a:solidFill>
            <a:srgbClr val="1E8A5E"/>
          </a:solidFill>
          <a:ln w="12700">
            <a:solidFill>
              <a:srgbClr val="1E8A5E"/>
            </a:solidFill>
            <a:prstDash val="solid"/>
          </a:ln>
        </p:spPr>
      </p:sp>
      <p:sp>
        <p:nvSpPr>
          <p:cNvPr id="12" name="Text 10"/>
          <p:cNvSpPr/>
          <p:nvPr/>
        </p:nvSpPr>
        <p:spPr>
          <a:xfrm>
            <a:off x="521208" y="2377440"/>
            <a:ext cx="3840480" cy="274320"/>
          </a:xfrm>
          <a:prstGeom prst="rect">
            <a:avLst/>
          </a:prstGeom>
          <a:noFill/>
          <a:ln/>
        </p:spPr>
        <p:txBody>
          <a:bodyPr wrap="square" rtlCol="0" anchor="ctr"/>
          <a:lstStyle/>
          <a:p>
            <a:pPr marL="0" indent="0">
              <a:buNone/>
            </a:pPr>
            <a:r>
              <a:rPr lang="en-US" sz="1400" b="1" dirty="0">
                <a:solidFill>
                  <a:srgbClr val="1E8A5E"/>
                </a:solidFill>
                <a:latin typeface="Calibri" pitchFamily="34" charset="0"/>
                <a:ea typeface="Calibri" pitchFamily="34" charset="-122"/>
                <a:cs typeface="Calibri" pitchFamily="34" charset="-120"/>
              </a:rPr>
              <a:t>Product Growth</a:t>
            </a:r>
            <a:endParaRPr lang="en-US" sz="1400" dirty="0"/>
          </a:p>
        </p:txBody>
      </p:sp>
      <p:sp>
        <p:nvSpPr>
          <p:cNvPr id="13" name="Text 11"/>
          <p:cNvSpPr/>
          <p:nvPr/>
        </p:nvSpPr>
        <p:spPr>
          <a:xfrm>
            <a:off x="521208" y="2688336"/>
            <a:ext cx="3840480" cy="685800"/>
          </a:xfrm>
          <a:prstGeom prst="rect">
            <a:avLst/>
          </a:prstGeom>
          <a:noFill/>
          <a:ln/>
        </p:spPr>
        <p:txBody>
          <a:bodyPr wrap="square" rtlCol="0" anchor="ctr"/>
          <a:lstStyle/>
          <a:p>
            <a:pPr marL="0" indent="0">
              <a:buNone/>
            </a:pPr>
            <a:r>
              <a:rPr lang="en-US" sz="1050" dirty="0">
                <a:solidFill>
                  <a:srgbClr val="1A2233"/>
                </a:solidFill>
                <a:latin typeface="Calibri" pitchFamily="34" charset="0"/>
                <a:ea typeface="Calibri" pitchFamily="34" charset="-122"/>
                <a:cs typeface="Calibri" pitchFamily="34" charset="-120"/>
              </a:rPr>
              <a:t>36.33% increase in unique products FY2020→2021. Accessories led with +34 new SKUs — fastest-growing segment.</a:t>
            </a:r>
            <a:endParaRPr lang="en-US" sz="1050" dirty="0"/>
          </a:p>
        </p:txBody>
      </p:sp>
      <p:sp>
        <p:nvSpPr>
          <p:cNvPr id="14" name="Shape 12"/>
          <p:cNvSpPr/>
          <p:nvPr/>
        </p:nvSpPr>
        <p:spPr>
          <a:xfrm>
            <a:off x="320040" y="3611880"/>
            <a:ext cx="4206240" cy="12161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5" name="Shape 13"/>
          <p:cNvSpPr/>
          <p:nvPr/>
        </p:nvSpPr>
        <p:spPr>
          <a:xfrm>
            <a:off x="320040" y="3611880"/>
            <a:ext cx="64008" cy="1216152"/>
          </a:xfrm>
          <a:prstGeom prst="rect">
            <a:avLst/>
          </a:prstGeom>
          <a:solidFill>
            <a:srgbClr val="D4860B"/>
          </a:solidFill>
          <a:ln w="12700">
            <a:solidFill>
              <a:srgbClr val="D4860B"/>
            </a:solidFill>
            <a:prstDash val="solid"/>
          </a:ln>
        </p:spPr>
      </p:sp>
      <p:sp>
        <p:nvSpPr>
          <p:cNvPr id="16" name="Text 14"/>
          <p:cNvSpPr/>
          <p:nvPr/>
        </p:nvSpPr>
        <p:spPr>
          <a:xfrm>
            <a:off x="521208" y="3703320"/>
            <a:ext cx="3840480" cy="274320"/>
          </a:xfrm>
          <a:prstGeom prst="rect">
            <a:avLst/>
          </a:prstGeom>
          <a:noFill/>
          <a:ln/>
        </p:spPr>
        <p:txBody>
          <a:bodyPr wrap="square" rtlCol="0" anchor="ctr"/>
          <a:lstStyle/>
          <a:p>
            <a:pPr marL="0" indent="0">
              <a:buNone/>
            </a:pPr>
            <a:r>
              <a:rPr lang="en-US" sz="1400" b="1" dirty="0">
                <a:solidFill>
                  <a:srgbClr val="D4860B"/>
                </a:solidFill>
                <a:latin typeface="Calibri" pitchFamily="34" charset="0"/>
                <a:ea typeface="Calibri" pitchFamily="34" charset="-122"/>
                <a:cs typeface="Calibri" pitchFamily="34" charset="-120"/>
              </a:rPr>
              <a:t>Gross Sales Surge</a:t>
            </a:r>
            <a:endParaRPr lang="en-US" sz="1400" dirty="0"/>
          </a:p>
        </p:txBody>
      </p:sp>
      <p:sp>
        <p:nvSpPr>
          <p:cNvPr id="17" name="Text 15"/>
          <p:cNvSpPr/>
          <p:nvPr/>
        </p:nvSpPr>
        <p:spPr>
          <a:xfrm>
            <a:off x="521208" y="4014216"/>
            <a:ext cx="3840480" cy="685800"/>
          </a:xfrm>
          <a:prstGeom prst="rect">
            <a:avLst/>
          </a:prstGeom>
          <a:noFill/>
          <a:ln/>
        </p:spPr>
        <p:txBody>
          <a:bodyPr wrap="square" rtlCol="0" anchor="ctr"/>
          <a:lstStyle/>
          <a:p>
            <a:pPr marL="0" indent="0">
              <a:buNone/>
            </a:pPr>
            <a:r>
              <a:rPr lang="en-US" sz="1050" dirty="0">
                <a:solidFill>
                  <a:srgbClr val="1A2233"/>
                </a:solidFill>
                <a:latin typeface="Calibri" pitchFamily="34" charset="0"/>
                <a:ea typeface="Calibri" pitchFamily="34" charset="-122"/>
                <a:cs typeface="Calibri" pitchFamily="34" charset="-120"/>
              </a:rPr>
              <a:t>Croma India peak: ₹4.7M in a single month (Nov 2021). Clear seasonal pattern enabling precise inventory planning.</a:t>
            </a:r>
            <a:endParaRPr lang="en-US" sz="1050" dirty="0"/>
          </a:p>
        </p:txBody>
      </p:sp>
      <p:sp>
        <p:nvSpPr>
          <p:cNvPr id="18" name="Shape 16"/>
          <p:cNvSpPr/>
          <p:nvPr/>
        </p:nvSpPr>
        <p:spPr>
          <a:xfrm>
            <a:off x="4754880" y="960120"/>
            <a:ext cx="4206240" cy="12161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9" name="Shape 17"/>
          <p:cNvSpPr/>
          <p:nvPr/>
        </p:nvSpPr>
        <p:spPr>
          <a:xfrm>
            <a:off x="4754880" y="960120"/>
            <a:ext cx="64008" cy="1216152"/>
          </a:xfrm>
          <a:prstGeom prst="rect">
            <a:avLst/>
          </a:prstGeom>
          <a:solidFill>
            <a:srgbClr val="7B4FC9"/>
          </a:solidFill>
          <a:ln w="12700">
            <a:solidFill>
              <a:srgbClr val="7B4FC9"/>
            </a:solidFill>
            <a:prstDash val="solid"/>
          </a:ln>
        </p:spPr>
      </p:sp>
      <p:sp>
        <p:nvSpPr>
          <p:cNvPr id="20" name="Text 18"/>
          <p:cNvSpPr/>
          <p:nvPr/>
        </p:nvSpPr>
        <p:spPr>
          <a:xfrm>
            <a:off x="4956048" y="1051560"/>
            <a:ext cx="3840480" cy="274320"/>
          </a:xfrm>
          <a:prstGeom prst="rect">
            <a:avLst/>
          </a:prstGeom>
          <a:noFill/>
          <a:ln/>
        </p:spPr>
        <p:txBody>
          <a:bodyPr wrap="square" rtlCol="0" anchor="ctr"/>
          <a:lstStyle/>
          <a:p>
            <a:pPr marL="0" indent="0">
              <a:buNone/>
            </a:pPr>
            <a:r>
              <a:rPr lang="en-US" sz="1400" b="1" dirty="0">
                <a:solidFill>
                  <a:srgbClr val="7B4FC9"/>
                </a:solidFill>
                <a:latin typeface="Calibri" pitchFamily="34" charset="0"/>
                <a:ea typeface="Calibri" pitchFamily="34" charset="-122"/>
                <a:cs typeface="Calibri" pitchFamily="34" charset="-120"/>
              </a:rPr>
              <a:t>Channel Dominance</a:t>
            </a:r>
            <a:endParaRPr lang="en-US" sz="1400" dirty="0"/>
          </a:p>
        </p:txBody>
      </p:sp>
      <p:sp>
        <p:nvSpPr>
          <p:cNvPr id="21" name="Text 19"/>
          <p:cNvSpPr/>
          <p:nvPr/>
        </p:nvSpPr>
        <p:spPr>
          <a:xfrm>
            <a:off x="4956048" y="1362456"/>
            <a:ext cx="3840480" cy="685800"/>
          </a:xfrm>
          <a:prstGeom prst="rect">
            <a:avLst/>
          </a:prstGeom>
          <a:noFill/>
          <a:ln/>
        </p:spPr>
        <p:txBody>
          <a:bodyPr wrap="square" rtlCol="0" anchor="ctr"/>
          <a:lstStyle/>
          <a:p>
            <a:pPr marL="0" indent="0">
              <a:buNone/>
            </a:pPr>
            <a:r>
              <a:rPr lang="en-US" sz="1050" dirty="0">
                <a:solidFill>
                  <a:srgbClr val="1A2233"/>
                </a:solidFill>
                <a:latin typeface="Calibri" pitchFamily="34" charset="0"/>
                <a:ea typeface="Calibri" pitchFamily="34" charset="-122"/>
                <a:cs typeface="Calibri" pitchFamily="34" charset="-120"/>
              </a:rPr>
              <a:t>Retailer accounts for 73.2% of FY2021 gross sales — over-reliance creates concentration risk.</a:t>
            </a:r>
            <a:endParaRPr lang="en-US" sz="1050" dirty="0"/>
          </a:p>
        </p:txBody>
      </p:sp>
      <p:sp>
        <p:nvSpPr>
          <p:cNvPr id="22" name="Shape 20"/>
          <p:cNvSpPr/>
          <p:nvPr/>
        </p:nvSpPr>
        <p:spPr>
          <a:xfrm>
            <a:off x="4754880" y="2286000"/>
            <a:ext cx="4206240" cy="12161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3" name="Shape 21"/>
          <p:cNvSpPr/>
          <p:nvPr/>
        </p:nvSpPr>
        <p:spPr>
          <a:xfrm>
            <a:off x="4754880" y="2286000"/>
            <a:ext cx="64008" cy="1216152"/>
          </a:xfrm>
          <a:prstGeom prst="rect">
            <a:avLst/>
          </a:prstGeom>
          <a:solidFill>
            <a:srgbClr val="C03030"/>
          </a:solidFill>
          <a:ln w="12700">
            <a:solidFill>
              <a:srgbClr val="C03030"/>
            </a:solidFill>
            <a:prstDash val="solid"/>
          </a:ln>
        </p:spPr>
      </p:sp>
      <p:sp>
        <p:nvSpPr>
          <p:cNvPr id="24" name="Text 22"/>
          <p:cNvSpPr/>
          <p:nvPr/>
        </p:nvSpPr>
        <p:spPr>
          <a:xfrm>
            <a:off x="4956048" y="2377440"/>
            <a:ext cx="3840480" cy="274320"/>
          </a:xfrm>
          <a:prstGeom prst="rect">
            <a:avLst/>
          </a:prstGeom>
          <a:noFill/>
          <a:ln/>
        </p:spPr>
        <p:txBody>
          <a:bodyPr wrap="square" rtlCol="0" anchor="ctr"/>
          <a:lstStyle/>
          <a:p>
            <a:pPr marL="0" indent="0">
              <a:buNone/>
            </a:pPr>
            <a:r>
              <a:rPr lang="en-US" sz="1400" b="1" dirty="0">
                <a:solidFill>
                  <a:srgbClr val="C03030"/>
                </a:solidFill>
                <a:latin typeface="Calibri" pitchFamily="34" charset="0"/>
                <a:ea typeface="Calibri" pitchFamily="34" charset="-122"/>
                <a:cs typeface="Calibri" pitchFamily="34" charset="-120"/>
              </a:rPr>
              <a:t>Discount Pressure</a:t>
            </a:r>
            <a:endParaRPr lang="en-US" sz="1400" dirty="0"/>
          </a:p>
        </p:txBody>
      </p:sp>
      <p:sp>
        <p:nvSpPr>
          <p:cNvPr id="25" name="Text 23"/>
          <p:cNvSpPr/>
          <p:nvPr/>
        </p:nvSpPr>
        <p:spPr>
          <a:xfrm>
            <a:off x="4956048" y="2688336"/>
            <a:ext cx="3840480" cy="685800"/>
          </a:xfrm>
          <a:prstGeom prst="rect">
            <a:avLst/>
          </a:prstGeom>
          <a:noFill/>
          <a:ln/>
        </p:spPr>
        <p:txBody>
          <a:bodyPr wrap="square" rtlCol="0" anchor="ctr"/>
          <a:lstStyle/>
          <a:p>
            <a:pPr marL="0" indent="0">
              <a:buNone/>
            </a:pPr>
            <a:r>
              <a:rPr lang="en-US" sz="1050" dirty="0">
                <a:solidFill>
                  <a:srgbClr val="1A2233"/>
                </a:solidFill>
                <a:latin typeface="Calibri" pitchFamily="34" charset="0"/>
                <a:ea typeface="Calibri" pitchFamily="34" charset="-122"/>
                <a:cs typeface="Calibri" pitchFamily="34" charset="-120"/>
              </a:rPr>
              <a:t>Top 5 Indian customers receive 29–31% pre-invoice discounts — near-identical levels risk margin erosion.</a:t>
            </a:r>
            <a:endParaRPr lang="en-US" sz="1050" dirty="0"/>
          </a:p>
        </p:txBody>
      </p:sp>
      <p:sp>
        <p:nvSpPr>
          <p:cNvPr id="26" name="Shape 24"/>
          <p:cNvSpPr/>
          <p:nvPr/>
        </p:nvSpPr>
        <p:spPr>
          <a:xfrm>
            <a:off x="4754880" y="3611880"/>
            <a:ext cx="4206240" cy="12161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7" name="Shape 25"/>
          <p:cNvSpPr/>
          <p:nvPr/>
        </p:nvSpPr>
        <p:spPr>
          <a:xfrm>
            <a:off x="4754880" y="3611880"/>
            <a:ext cx="64008" cy="1216152"/>
          </a:xfrm>
          <a:prstGeom prst="rect">
            <a:avLst/>
          </a:prstGeom>
          <a:solidFill>
            <a:srgbClr val="0A8B9D"/>
          </a:solidFill>
          <a:ln w="12700">
            <a:solidFill>
              <a:srgbClr val="0A8B9D"/>
            </a:solidFill>
            <a:prstDash val="solid"/>
          </a:ln>
        </p:spPr>
      </p:sp>
      <p:sp>
        <p:nvSpPr>
          <p:cNvPr id="28" name="Text 26"/>
          <p:cNvSpPr/>
          <p:nvPr/>
        </p:nvSpPr>
        <p:spPr>
          <a:xfrm>
            <a:off x="4956048" y="3703320"/>
            <a:ext cx="3840480" cy="274320"/>
          </a:xfrm>
          <a:prstGeom prst="rect">
            <a:avLst/>
          </a:prstGeom>
          <a:noFill/>
          <a:ln/>
        </p:spPr>
        <p:txBody>
          <a:bodyPr wrap="square" rtlCol="0" anchor="ctr"/>
          <a:lstStyle/>
          <a:p>
            <a:pPr marL="0" indent="0">
              <a:buNone/>
            </a:pPr>
            <a:r>
              <a:rPr lang="en-US" sz="1400" b="1" dirty="0">
                <a:solidFill>
                  <a:srgbClr val="0A8B9D"/>
                </a:solidFill>
                <a:latin typeface="Calibri" pitchFamily="34" charset="0"/>
                <a:ea typeface="Calibri" pitchFamily="34" charset="-122"/>
                <a:cs typeface="Calibri" pitchFamily="34" charset="-120"/>
              </a:rPr>
              <a:t>Top Products</a:t>
            </a:r>
            <a:endParaRPr lang="en-US" sz="1400" dirty="0"/>
          </a:p>
        </p:txBody>
      </p:sp>
      <p:sp>
        <p:nvSpPr>
          <p:cNvPr id="29" name="Text 27"/>
          <p:cNvSpPr/>
          <p:nvPr/>
        </p:nvSpPr>
        <p:spPr>
          <a:xfrm>
            <a:off x="4956048" y="4014216"/>
            <a:ext cx="3840480" cy="685800"/>
          </a:xfrm>
          <a:prstGeom prst="rect">
            <a:avLst/>
          </a:prstGeom>
          <a:noFill/>
          <a:ln/>
        </p:spPr>
        <p:txBody>
          <a:bodyPr wrap="square" rtlCol="0" anchor="ctr"/>
          <a:lstStyle/>
          <a:p>
            <a:pPr marL="0" indent="0">
              <a:buNone/>
            </a:pPr>
            <a:r>
              <a:rPr lang="en-US" sz="1050" dirty="0">
                <a:solidFill>
                  <a:srgbClr val="1A2233"/>
                </a:solidFill>
                <a:latin typeface="Calibri" pitchFamily="34" charset="0"/>
                <a:ea typeface="Calibri" pitchFamily="34" charset="-122"/>
                <a:cs typeface="Calibri" pitchFamily="34" charset="-120"/>
              </a:rPr>
              <a:t>AQ Pen Drive DRC, AQ Gamers Ms, and AQ Digit lead divisions by sold quantity — hero SKUs needing priority stock.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01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APAC Market Analysis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Which markets does 'Atliq Exclusive' operate in within the APAC region?</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DISTINCT market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dim_customer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WHERE customer = 'Atliq Exclusive'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AND region = 'APAC';</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Result: 8 markets</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market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India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Indonesia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Japan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Philipines</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South Korea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Australia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NewZealand</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Bangladesh</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1B6CA8"/>
          </a:solidFill>
          <a:ln w="12700">
            <a:solidFill>
              <a:srgbClr val="1B6CA8"/>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900" b="1" kern="0" spc="150" dirty="0">
                <a:solidFill>
                  <a:srgbClr val="1B6CA8"/>
                </a:solidFill>
                <a:latin typeface="Calibri" pitchFamily="34" charset="0"/>
                <a:ea typeface="Calibri" pitchFamily="34" charset="-122"/>
                <a:cs typeface="Calibri" pitchFamily="34" charset="-120"/>
              </a:rPr>
              <a:t>KEY FINDINGS</a:t>
            </a:r>
            <a:endParaRPr lang="en-US" sz="9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900" dirty="0">
                <a:solidFill>
                  <a:srgbClr val="1A2233"/>
                </a:solidFill>
                <a:latin typeface="Calibri" pitchFamily="34" charset="0"/>
                <a:ea typeface="Calibri" pitchFamily="34" charset="-122"/>
                <a:cs typeface="Calibri" pitchFamily="34" charset="-120"/>
              </a:rPr>
              <a:t>8 distinct markets identified in APAC for Atliq Exclusive</a:t>
            </a:r>
            <a:endParaRPr lang="en-US" sz="900" dirty="0"/>
          </a:p>
          <a:p>
            <a:pPr marL="342900" indent="-342900">
              <a:spcAft>
                <a:spcPts val="300"/>
              </a:spcAft>
              <a:buSzPct val="100000"/>
              <a:buChar char="•"/>
            </a:pPr>
            <a:r>
              <a:rPr lang="en-US" sz="900" dirty="0">
                <a:solidFill>
                  <a:srgbClr val="1A2233"/>
                </a:solidFill>
                <a:latin typeface="Calibri" pitchFamily="34" charset="0"/>
                <a:ea typeface="Calibri" pitchFamily="34" charset="-122"/>
                <a:cs typeface="Calibri" pitchFamily="34" charset="-120"/>
              </a:rPr>
              <a:t>India, Indonesia, Japan, Philippines, South Korea, Australia, New Zealand, Bangladesh</a:t>
            </a:r>
            <a:endParaRPr lang="en-US" sz="900" dirty="0"/>
          </a:p>
          <a:p>
            <a:pPr marL="342900" indent="-342900">
              <a:spcAft>
                <a:spcPts val="300"/>
              </a:spcAft>
              <a:buSzPct val="100000"/>
              <a:buChar char="•"/>
            </a:pPr>
            <a:r>
              <a:rPr lang="en-US" sz="900" dirty="0">
                <a:solidFill>
                  <a:srgbClr val="1A2233"/>
                </a:solidFill>
                <a:latin typeface="Calibri" pitchFamily="34" charset="0"/>
                <a:ea typeface="Calibri" pitchFamily="34" charset="-122"/>
                <a:cs typeface="Calibri" pitchFamily="34" charset="-120"/>
              </a:rPr>
              <a:t>India represents the largest single market by sales volume</a:t>
            </a:r>
            <a:endParaRPr lang="en-US" sz="900" dirty="0"/>
          </a:p>
          <a:p>
            <a:pPr marL="342900" indent="-342900">
              <a:spcAft>
                <a:spcPts val="300"/>
              </a:spcAft>
              <a:buSzPct val="100000"/>
              <a:buChar char="•"/>
            </a:pPr>
            <a:r>
              <a:rPr lang="en-US" sz="900" dirty="0">
                <a:solidFill>
                  <a:srgbClr val="1A2233"/>
                </a:solidFill>
                <a:latin typeface="Calibri" pitchFamily="34" charset="0"/>
                <a:ea typeface="Calibri" pitchFamily="34" charset="-122"/>
                <a:cs typeface="Calibri" pitchFamily="34" charset="-120"/>
              </a:rPr>
              <a:t>Emerging markets (Bangladesh, Philippines) present significant growth opportunity</a:t>
            </a:r>
            <a:endParaRPr lang="en-US" sz="9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900" b="1" kern="0" spc="150" dirty="0">
                <a:solidFill>
                  <a:srgbClr val="D4860B"/>
                </a:solidFill>
                <a:latin typeface="Calibri" pitchFamily="34" charset="0"/>
                <a:ea typeface="Calibri" pitchFamily="34" charset="-122"/>
                <a:cs typeface="Calibri" pitchFamily="34" charset="-120"/>
              </a:rPr>
              <a:t>BUSINESS IMPACT</a:t>
            </a:r>
            <a:endParaRPr lang="en-US" sz="9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900" dirty="0">
                <a:solidFill>
                  <a:srgbClr val="1A2233"/>
                </a:solidFill>
                <a:latin typeface="Calibri" pitchFamily="34" charset="0"/>
                <a:ea typeface="Calibri" pitchFamily="34" charset="-122"/>
                <a:cs typeface="Calibri" pitchFamily="34" charset="-120"/>
              </a:rPr>
              <a:t>Direct impact on market expansion strategy and resource allocation across APAC.</a:t>
            </a:r>
            <a:endParaRPr lang="en-US" sz="9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900" b="1" kern="0" spc="150" dirty="0">
                <a:solidFill>
                  <a:srgbClr val="1E8A5E"/>
                </a:solidFill>
                <a:latin typeface="Calibri" pitchFamily="34" charset="0"/>
                <a:ea typeface="Calibri" pitchFamily="34" charset="-122"/>
                <a:cs typeface="Calibri" pitchFamily="34" charset="-120"/>
              </a:rPr>
              <a:t>RECOMMENDATION</a:t>
            </a:r>
            <a:endParaRPr lang="en-US" sz="9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900" dirty="0">
                <a:solidFill>
                  <a:srgbClr val="1A2233"/>
                </a:solidFill>
                <a:latin typeface="Calibri" pitchFamily="34" charset="0"/>
                <a:ea typeface="Calibri" pitchFamily="34" charset="-122"/>
                <a:cs typeface="Calibri" pitchFamily="34" charset="-120"/>
              </a:rPr>
              <a:t>Prioritise India for upselling premium products while developing targeted go-to-market strategies for under-penetrated markets like Bangladesh and Philippines.</a:t>
            </a:r>
            <a:endParaRPr lang="en-US" sz="9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E8A5E"/>
          </a:solidFill>
          <a:ln w="12700">
            <a:solidFill>
              <a:srgbClr val="1E8A5E"/>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02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Product Portfolio Growth</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What is the % increase in unique products in FY2021 vs FY2020?</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WITH cte AS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COUNT(DISTINCT CASE WHEN fy=2020</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product_code END) AS p_2020,</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COUNT(DISTINCT CASE WHEN fy=2021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product_code END) AS p_2021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fact_gross_price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p_2020, p_2021,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ROUND((p_2021-p_2020)*100.0</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/p_2020,2) AS pct_change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cte;</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p_2020  p_2021  pct_change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245     334       36.33</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1E8A5E"/>
          </a:solidFill>
          <a:ln w="12700">
            <a:solidFill>
              <a:srgbClr val="1E8A5E"/>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FY2020: 245 unique products  |  FY2021: 334 unique products</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Net increase: 89 new products — a 36.33% year-over-year growth</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Reflects aggressive product diversification strategy.</a:t>
            </a:r>
            <a:endParaRPr lang="en-US" sz="10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Signals strong R&amp;D investment; supply chain and sales operations must scale accordingly.</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Conduct SKU rationalization to ensure all 334 products meet minimum margin thresholds. Focus marketing on high-velocity new products.</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D4860B"/>
          </a:solidFill>
          <a:ln w="12700">
            <a:solidFill>
              <a:srgbClr val="D4860B"/>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03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Segment Performance</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What are the product counts for each segment, sorted by product count?</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segment,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COUNT(DISTINCT product_code) AS cnt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dim_product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GROUP BY segment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ORDER BY cnt DESC;</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segment      cnt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Notebook     129</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Accessories  116</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Peripherals   84</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Desktop       32</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Storage       27</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Networking     9</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D4860B"/>
          </a:solidFill>
          <a:ln w="12700">
            <a:solidFill>
              <a:srgbClr val="D4860B"/>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Notebook: 129 products  |  Accessories: 116  |  Peripherals: 84</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Desktop: 32  |  Storage: 27  |  Networking: 9</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Notebook + Accessories = 73% of entire product catalogue</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Networking has the smallest portfolio — potential gap vs competitors</a:t>
            </a:r>
            <a:endParaRPr lang="en-US" sz="10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Portfolio concentration in Notebook &amp; Accessories may expose revenue risk if segment demand shifts.</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Evaluate growth potential in Networking and Storage segments. Consider targeted NPD investment in under-represented categories.</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7B4FC9"/>
          </a:solidFill>
          <a:ln w="12700">
            <a:solidFill>
              <a:srgbClr val="7B4FC9"/>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04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Segment Growth Leaders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Which segment had the most increase in unique products in FY2021 vs FY2020?</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WITH cte AS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 p.segment,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COUNT(DISTINCT CASE WHEN g.fiscal_year=2020</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g.product_code END) AS cnt_2020,</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COUNT(DISTINCT CASE WHEN g.fiscal_year=2021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g.product_code END) AS cnt_2021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dim_product p</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JOIN fact_gross_price g USING(product_code)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GROUP BY p.segment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cnt_2021-cnt_2020 AS difference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cte ORDER BY difference DESC;</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segment     cnt_2020  cnt_2021  diff</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  --------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Accessories       69       103    34</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Notebook          92       108    16</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Peripherals       59        75    16</a:t>
            </a:r>
            <a:endParaRPr lang="en-US" sz="780" dirty="0"/>
          </a:p>
        </p:txBody>
      </p:sp>
      <p:sp>
        <p:nvSpPr>
          <p:cNvPr id="13" name="Shape 10"/>
          <p:cNvSpPr/>
          <p:nvPr/>
        </p:nvSpPr>
        <p:spPr>
          <a:xfrm>
            <a:off x="5669280" y="1207008"/>
            <a:ext cx="3154680" cy="17007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700784"/>
          </a:xfrm>
          <a:prstGeom prst="rect">
            <a:avLst/>
          </a:prstGeom>
          <a:solidFill>
            <a:srgbClr val="7B4FC9"/>
          </a:solidFill>
          <a:ln w="12700">
            <a:solidFill>
              <a:srgbClr val="7B4FC9"/>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7B4FC9"/>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Accessories: +34 products (largest absolute increase)</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Notebook: +16  |  Peripherals: +16  |  Desktop: +15</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Storage: +5  |  Networking: +3</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Accessories growth aligns with rising demand for remote work peripherals</a:t>
            </a:r>
            <a:endParaRPr lang="en-US" sz="1000" dirty="0"/>
          </a:p>
        </p:txBody>
      </p:sp>
      <p:sp>
        <p:nvSpPr>
          <p:cNvPr id="17" name="Shape 14"/>
          <p:cNvSpPr/>
          <p:nvPr/>
        </p:nvSpPr>
        <p:spPr>
          <a:xfrm>
            <a:off x="5709597" y="2980944"/>
            <a:ext cx="3154680" cy="813816"/>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2980944"/>
            <a:ext cx="64008" cy="813816"/>
          </a:xfrm>
          <a:prstGeom prst="rect">
            <a:avLst/>
          </a:prstGeom>
          <a:solidFill>
            <a:srgbClr val="D4860B"/>
          </a:solidFill>
          <a:ln w="12700">
            <a:solidFill>
              <a:srgbClr val="D4860B"/>
            </a:solidFill>
            <a:prstDash val="solid"/>
          </a:ln>
        </p:spPr>
      </p:sp>
      <p:sp>
        <p:nvSpPr>
          <p:cNvPr id="19" name="Text 16"/>
          <p:cNvSpPr/>
          <p:nvPr/>
        </p:nvSpPr>
        <p:spPr>
          <a:xfrm>
            <a:off x="5852160" y="3063240"/>
            <a:ext cx="2834640" cy="17373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Accessories is AtliQ's fastest-growing portfolio area — strategic alignment with global work-from-home mega trend.</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Double down on Accessories marketing with bundling strategies alongside Notebooks. Explore premium accessory lines to expand ASP.</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C03030"/>
          </a:solidFill>
          <a:ln w="12700">
            <a:solidFill>
              <a:srgbClr val="C03030"/>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05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Manufacturing Cost Analysis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Which products have the highest and lowest manufacturing costs?</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p.product_code,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p.product,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m.manufacturing_cost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fact_manufacturing_cost m</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JOIN dim_product p USING(product_code)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WHERE m.manufacturing_cost =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 MAX(manufacturing_cost)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fact_manufacturing_cost)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UNION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p.product_code, p.product,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m.manufacturing_cost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fact_manufacturing_cost m</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JOIN dim_product p USING(product_code)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WHERE m.manufacturing_cost =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 MIN(manufacturing_cost)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fact_manufacturing_cost);</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product                    cost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AQ HOME Allout 9 Pro    240.54</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AQ Master Wired x1 Ms     0.89</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C03030"/>
          </a:solidFill>
          <a:ln w="12700">
            <a:solidFill>
              <a:srgbClr val="C03030"/>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C03030"/>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Highest cost: AQ HOME Allout 9 Pro — ₹240.54 per unit</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Lowest cost: AQ Master Wired x1 Ms — ₹0.89 per unit</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Cost differential of 270× between top and bottom products</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High-cost products require strong gross margin discipline to stay profitable</a:t>
            </a:r>
            <a:endParaRPr lang="en-US" sz="10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Manufacturing cost outliers directly affect pricing strategy and gross margin targets.</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Review pricing power of the highest-cost product. Conduct margin analysis for all products where </a:t>
            </a:r>
          </a:p>
          <a:p>
            <a:pPr marL="0" indent="0">
              <a:buNone/>
            </a:pPr>
            <a:r>
              <a:rPr lang="en-US" sz="1000" dirty="0">
                <a:solidFill>
                  <a:srgbClr val="1A2233"/>
                </a:solidFill>
                <a:latin typeface="Calibri" pitchFamily="34" charset="0"/>
                <a:ea typeface="Calibri" pitchFamily="34" charset="-122"/>
                <a:cs typeface="Calibri" pitchFamily="34" charset="-120"/>
              </a:rPr>
              <a:t>cost &gt; ₹100.</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0A8B9D"/>
          </a:solidFill>
          <a:ln w="12700">
            <a:solidFill>
              <a:srgbClr val="0A8B9D"/>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06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Customer Discount Analysis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Top 5 customers with highest avg pre-invoice discount % in FY2021 — Indian market</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c.customer,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ROUND(AVG(d.pre_invoice_discount_pct)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*100, 2) AS avg_discount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fact_pre_invoice_deductions d</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JOIN dim_customer c USING(customer_code)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WHERE c.market = 'India'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AND d.fiscal_year = 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GROUP BY c.customer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ORDER BY avg_discount DESC</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LIMIT 5;</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customer   avg_discount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Flipkart          30.83</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Viveks            30.38</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Ezone             30.28</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Croma             30.25</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Amazon            29.33</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0A8B9D"/>
          </a:solidFill>
          <a:ln w="12700">
            <a:solidFill>
              <a:srgbClr val="0A8B9D"/>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0A8B9D"/>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Top customer: Flipkart — 30.83% average pre-invoice discount</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Viveks (30.38%), Ezone (30.28%), Croma (30.25%), Amazon (29.33%)</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All top 5 receive ~29–31% discount — very narrow variance</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High discount rates signal strong buyer leverage and pricing pressure</a:t>
            </a:r>
            <a:endParaRPr lang="en-US" sz="10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Concentrated discount levels among top Indian customers compress gross margins significantly</a:t>
            </a:r>
            <a:r>
              <a:rPr lang="en-US" sz="850" dirty="0">
                <a:solidFill>
                  <a:srgbClr val="1A2233"/>
                </a:solidFill>
                <a:latin typeface="Calibri" pitchFamily="34" charset="0"/>
                <a:ea typeface="Calibri" pitchFamily="34" charset="-122"/>
                <a:cs typeface="Calibri" pitchFamily="34" charset="-120"/>
              </a:rPr>
              <a:t>.</a:t>
            </a:r>
            <a:endParaRPr lang="en-US" sz="85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Restructure discount frameworks with tiered value-based incentives. Introduce non-monetary benefits (priority stock, co-marketing) to reduce direct discount dependency</a:t>
            </a:r>
            <a:r>
              <a:rPr lang="en-US" sz="850" dirty="0">
                <a:solidFill>
                  <a:srgbClr val="1A2233"/>
                </a:solidFill>
                <a:latin typeface="Calibri" pitchFamily="34" charset="0"/>
                <a:ea typeface="Calibri" pitchFamily="34" charset="-122"/>
                <a:cs typeface="Calibri" pitchFamily="34" charset="-120"/>
              </a:rPr>
              <a:t>.</a:t>
            </a:r>
            <a:endParaRPr lang="en-US" sz="85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07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Quarter-wise Sales Analysis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In which quarter of FY2020 did AtliQ record the maximum total sold quantity?</a:t>
            </a:r>
            <a:endParaRPr lang="en-US" sz="950" dirty="0"/>
          </a:p>
        </p:txBody>
      </p:sp>
      <p:graphicFrame>
        <p:nvGraphicFramePr>
          <p:cNvPr id="8" name="Chart 0"/>
          <p:cNvGraphicFramePr/>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CASE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WHEN MONTH(date) IN (9,10,11)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'Q1'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WHEN MONTH(date) IN (12,1,2)</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'Q2'</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WHEN MONTH(date) IN (3,4,5)</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THEN 'Q3'</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ELSE 'Q4'</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END AS quarter,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SUM(sold_quantity) AS total_qty</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fact_sales_monthly</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WHERE fiscal_year = 2020</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GROUP BY quarter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ORDER BY total_qty DESC;</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qtr   total_qty</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Q1    7,005,619</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Q2    6,649,642</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Q4    5,042,541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Q3    2,075,087</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1B6CA8"/>
          </a:solidFill>
          <a:ln w="12700">
            <a:solidFill>
              <a:srgbClr val="1B6CA8"/>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1B6CA8"/>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Q1 FY2020 (Sep–Nov 2019): 7.01M units — HIGHEST quarter</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Q2 (Dec–Feb): 6.65M units  |  Q4 (Jun–Aug): 5.04M units</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Q3 (Mar–May): 2.08M — LOWEST — COVID-19 lockdown impact clearly visible</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Seasonal peak in Q1 aligns with back-to-school and new product launches</a:t>
            </a:r>
            <a:endParaRPr lang="en-US" sz="10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COVID-19 caused a 68% drop in Q3 sales volume — demonstrates need for supply chain resilience.</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Build seasonal demand forecasting models to optimise inventory. Develop contingency plans for demand shocks similar to Q3 FY2020.</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E8A5E"/>
          </a:solidFill>
          <a:ln w="12700">
            <a:solidFill>
              <a:srgbClr val="1E8A5E"/>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08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Channel Performance Analysis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Which channel drove the most gross sales in FY2021 and what was its contribution %?</a:t>
            </a:r>
            <a:endParaRPr lang="en-US" sz="950" dirty="0"/>
          </a:p>
        </p:txBody>
      </p:sp>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WITH cte AS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 c.channel,</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ROUND(SUM(s.sold_quantity * g.gross_price)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/1000000, 2) AS gross_sales_mln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fact_sales_monthly s</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JOIN fact_gross_price g USING(product_code, fiscal_year)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JOIN dim_customer c USING(customer_code)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WHERE s.fiscal_year = 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GROUP BY c.channel</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ROUND(gross_sales_mln*100/SUM(gross_sales_mln)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OVER(), 2) AS pct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cte ORDER BY gross_sales_mln DESC;</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channel      gross_mln   pct%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Retailer       1924.7   73.2</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Direct          406.7   15.5</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Distributor     297.2   11.3</a:t>
            </a:r>
            <a:endParaRPr lang="en-US" sz="780" dirty="0"/>
          </a:p>
        </p:txBody>
      </p:sp>
      <p:sp>
        <p:nvSpPr>
          <p:cNvPr id="13" name="Shape 10"/>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828800"/>
          </a:xfrm>
          <a:prstGeom prst="rect">
            <a:avLst/>
          </a:prstGeom>
          <a:solidFill>
            <a:srgbClr val="1E8A5E"/>
          </a:solidFill>
          <a:ln w="12700">
            <a:solidFill>
              <a:srgbClr val="1E8A5E"/>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Retailer: ₹1924.7M gross sales — 73.2% of total</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Direct: ₹406.7M — 15.5%  |  Distributor: ₹297.2M — 11.3%</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Retailer channel dominates by a massive margin</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Direct channel growing — signals e-commerce and D2C opportunity</a:t>
            </a:r>
            <a:endParaRPr lang="en-US" sz="1000" dirty="0"/>
          </a:p>
        </p:txBody>
      </p:sp>
      <p:sp>
        <p:nvSpPr>
          <p:cNvPr id="17" name="Shape 14"/>
          <p:cNvSpPr/>
          <p:nvPr/>
        </p:nvSpPr>
        <p:spPr>
          <a:xfrm>
            <a:off x="5669280" y="3108960"/>
            <a:ext cx="3154680" cy="685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108960"/>
            <a:ext cx="64008" cy="685800"/>
          </a:xfrm>
          <a:prstGeom prst="rect">
            <a:avLst/>
          </a:prstGeom>
          <a:solidFill>
            <a:srgbClr val="D4860B"/>
          </a:solidFill>
          <a:ln w="12700">
            <a:solidFill>
              <a:srgbClr val="D4860B"/>
            </a:solidFill>
            <a:prstDash val="solid"/>
          </a:ln>
        </p:spPr>
      </p:sp>
      <p:sp>
        <p:nvSpPr>
          <p:cNvPr id="19" name="Text 16"/>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410712"/>
            <a:ext cx="2880360" cy="3200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Over-reliance on Retailer channel creates concentration risk; Direct growth could significantly improve margins.</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Invest in Direct (D2C) channel to capture higher margins. Develop exclusive online product bundles and loyalty programs.</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graphicFrame>
        <p:nvGraphicFramePr>
          <p:cNvPr id="28" name="Chart 0">
            <a:extLst>
              <a:ext uri="{FF2B5EF4-FFF2-40B4-BE49-F238E27FC236}">
                <a16:creationId xmlns:a16="http://schemas.microsoft.com/office/drawing/2014/main" id="{C1DC7598-7D72-A2EE-4AD6-8FE74C3CC97D}"/>
              </a:ext>
            </a:extLst>
          </p:cNvPr>
          <p:cNvGraphicFramePr/>
          <p:nvPr>
            <p:extLst>
              <p:ext uri="{D42A27DB-BD31-4B8C-83A1-F6EECF244321}">
                <p14:modId xmlns:p14="http://schemas.microsoft.com/office/powerpoint/2010/main" val="589928114"/>
              </p:ext>
            </p:extLst>
          </p:nvPr>
        </p:nvGraphicFramePr>
        <p:xfrm>
          <a:off x="320040" y="1239012"/>
          <a:ext cx="5120640" cy="27432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E8A5E"/>
          </a:solidFill>
          <a:ln w="12700">
            <a:solidFill>
              <a:srgbClr val="1E8A5E"/>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09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Top Products by Division</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Top 3 products by total sold quantity in each division — FY2021</a:t>
            </a:r>
            <a:endParaRPr lang="en-US" sz="950" dirty="0"/>
          </a:p>
        </p:txBody>
      </p:sp>
      <p:sp>
        <p:nvSpPr>
          <p:cNvPr id="8" name="Shape 6"/>
          <p:cNvSpPr/>
          <p:nvPr/>
        </p:nvSpPr>
        <p:spPr>
          <a:xfrm>
            <a:off x="320040" y="1207008"/>
            <a:ext cx="5212080" cy="283464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pic>
        <p:nvPicPr>
          <p:cNvPr id="9" name="Image 0" descr="preencoded.png"/>
          <p:cNvPicPr>
            <a:picLocks noChangeAspect="1"/>
          </p:cNvPicPr>
          <p:nvPr/>
        </p:nvPicPr>
        <p:blipFill>
          <a:blip r:embed="rId3"/>
          <a:stretch>
            <a:fillRect/>
          </a:stretch>
        </p:blipFill>
        <p:spPr>
          <a:xfrm>
            <a:off x="365760" y="1234440"/>
            <a:ext cx="5120640" cy="2788920"/>
          </a:xfrm>
          <a:prstGeom prst="rect">
            <a:avLst/>
          </a:prstGeom>
        </p:spPr>
      </p:pic>
      <p:sp>
        <p:nvSpPr>
          <p:cNvPr id="10" name="Shape 7"/>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1" name="Shape 8"/>
          <p:cNvSpPr/>
          <p:nvPr/>
        </p:nvSpPr>
        <p:spPr>
          <a:xfrm>
            <a:off x="320040" y="4114800"/>
            <a:ext cx="5212080" cy="256032"/>
          </a:xfrm>
          <a:prstGeom prst="rect">
            <a:avLst/>
          </a:prstGeom>
          <a:solidFill>
            <a:srgbClr val="2C3E5A"/>
          </a:solidFill>
          <a:ln w="12700">
            <a:solidFill>
              <a:srgbClr val="2C3E5A"/>
            </a:solidFill>
            <a:prstDash val="solid"/>
          </a:ln>
        </p:spPr>
      </p:sp>
      <p:sp>
        <p:nvSpPr>
          <p:cNvPr id="12" name="Text 9"/>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3" name="Text 10"/>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WITH cte AS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 p.division, p.product,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SUM(s.sold_quantity) AS total_qty</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fact_sales_monthly s</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JOIN dim_product p USING(product_code)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WHERE s.fiscal_year = 2021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GROUP BY p.division, p.product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ranked AS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SELECT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RANK() OVER(PARTITION BY division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ORDER BY total_qty DESC) AS rnk</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FROM cte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 * FROM ranked WHERE rnk &lt;= 3;</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division  product             qty      rnk</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  --------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N &amp; S     AQ Pen Drive DRC  2034569    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 &amp; A     AQ Gamers Ms      2484898    1</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PC        AQ Digit           136278    1</a:t>
            </a:r>
            <a:endParaRPr lang="en-US" sz="780" dirty="0"/>
          </a:p>
        </p:txBody>
      </p:sp>
      <p:sp>
        <p:nvSpPr>
          <p:cNvPr id="14" name="Shape 11"/>
          <p:cNvSpPr/>
          <p:nvPr/>
        </p:nvSpPr>
        <p:spPr>
          <a:xfrm>
            <a:off x="5669280" y="1207008"/>
            <a:ext cx="3154680" cy="182880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5" name="Shape 12"/>
          <p:cNvSpPr/>
          <p:nvPr/>
        </p:nvSpPr>
        <p:spPr>
          <a:xfrm>
            <a:off x="5669280" y="1207008"/>
            <a:ext cx="64008" cy="1828800"/>
          </a:xfrm>
          <a:prstGeom prst="rect">
            <a:avLst/>
          </a:prstGeom>
          <a:solidFill>
            <a:srgbClr val="1E8A5E"/>
          </a:solidFill>
          <a:ln w="12700">
            <a:solidFill>
              <a:srgbClr val="1E8A5E"/>
            </a:solidFill>
            <a:prstDash val="solid"/>
          </a:ln>
        </p:spPr>
      </p:sp>
      <p:sp>
        <p:nvSpPr>
          <p:cNvPr id="16" name="Text 13"/>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KEY FINDINGS</a:t>
            </a:r>
            <a:endParaRPr lang="en-US" sz="1000" dirty="0"/>
          </a:p>
        </p:txBody>
      </p:sp>
      <p:sp>
        <p:nvSpPr>
          <p:cNvPr id="17" name="Text 14"/>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P &amp; A Division: AQ Gamers Ms (2.48M), AQ Master wireless x1 Ms (2.45M), AQ Maxima Ms</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N &amp; S Division: AQ Pen Drive DRC (2.03M), AQ Clx1 (1.24M), AQ Digit SSD (1.24M)</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PC Division: AQ Digit, AQ Gen Y, AQ Clx1 — smaller volumes but higher unit value</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Storage/Networking products show high demand with limited SKUs</a:t>
            </a:r>
            <a:endParaRPr lang="en-US" sz="1000" dirty="0"/>
          </a:p>
        </p:txBody>
      </p:sp>
      <p:sp>
        <p:nvSpPr>
          <p:cNvPr id="18" name="Shape 15"/>
          <p:cNvSpPr/>
          <p:nvPr/>
        </p:nvSpPr>
        <p:spPr>
          <a:xfrm>
            <a:off x="5669280" y="3108960"/>
            <a:ext cx="3154680" cy="9326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9" name="Shape 16"/>
          <p:cNvSpPr/>
          <p:nvPr/>
        </p:nvSpPr>
        <p:spPr>
          <a:xfrm>
            <a:off x="5687568" y="3108960"/>
            <a:ext cx="45719" cy="914400"/>
          </a:xfrm>
          <a:prstGeom prst="rect">
            <a:avLst/>
          </a:prstGeom>
          <a:solidFill>
            <a:srgbClr val="D4860B"/>
          </a:solidFill>
          <a:ln w="12700">
            <a:solidFill>
              <a:srgbClr val="D4860B"/>
            </a:solidFill>
            <a:prstDash val="solid"/>
          </a:ln>
        </p:spPr>
      </p:sp>
      <p:sp>
        <p:nvSpPr>
          <p:cNvPr id="20" name="Text 17"/>
          <p:cNvSpPr/>
          <p:nvPr/>
        </p:nvSpPr>
        <p:spPr>
          <a:xfrm>
            <a:off x="5852160" y="3163824"/>
            <a:ext cx="2834640" cy="21945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1" name="Text 18"/>
          <p:cNvSpPr/>
          <p:nvPr/>
        </p:nvSpPr>
        <p:spPr>
          <a:xfrm>
            <a:off x="5852160" y="3410712"/>
            <a:ext cx="2880360" cy="470916"/>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Division-level performance reveals hero SKUs driving disproportionate volume — critical for supply planning.</a:t>
            </a:r>
            <a:endParaRPr lang="en-US" sz="1000" dirty="0"/>
          </a:p>
        </p:txBody>
      </p:sp>
      <p:sp>
        <p:nvSpPr>
          <p:cNvPr id="22" name="Shape 19"/>
          <p:cNvSpPr/>
          <p:nvPr/>
        </p:nvSpPr>
        <p:spPr>
          <a:xfrm>
            <a:off x="5669280" y="4096512"/>
            <a:ext cx="3154680" cy="9326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3" name="Shape 20"/>
          <p:cNvSpPr/>
          <p:nvPr/>
        </p:nvSpPr>
        <p:spPr>
          <a:xfrm flipH="1">
            <a:off x="5733287" y="4096512"/>
            <a:ext cx="45719" cy="932688"/>
          </a:xfrm>
          <a:prstGeom prst="rect">
            <a:avLst/>
          </a:prstGeom>
          <a:solidFill>
            <a:srgbClr val="1E8A5E"/>
          </a:solidFill>
          <a:ln w="12700">
            <a:solidFill>
              <a:srgbClr val="1E8A5E"/>
            </a:solidFill>
            <a:prstDash val="solid"/>
          </a:ln>
        </p:spPr>
      </p:sp>
      <p:sp>
        <p:nvSpPr>
          <p:cNvPr id="24" name="Text 21"/>
          <p:cNvSpPr/>
          <p:nvPr/>
        </p:nvSpPr>
        <p:spPr>
          <a:xfrm>
            <a:off x="5852160" y="4194602"/>
            <a:ext cx="2834640" cy="194518"/>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5" name="Text 22"/>
          <p:cNvSpPr/>
          <p:nvPr/>
        </p:nvSpPr>
        <p:spPr>
          <a:xfrm>
            <a:off x="5852160" y="4231178"/>
            <a:ext cx="2880360" cy="761446"/>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Ensure hero products (top 3 per division) have 100% supply availability. Create 'defender' SKUs alongside heroes to capture adjacent demand.</a:t>
            </a:r>
            <a:endParaRPr lang="en-US" sz="1000" dirty="0"/>
          </a:p>
        </p:txBody>
      </p:sp>
      <p:sp>
        <p:nvSpPr>
          <p:cNvPr id="26" name="Shape 23"/>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7" name="Text 24"/>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7B4FC9"/>
          </a:solidFill>
          <a:ln w="12700">
            <a:solidFill>
              <a:srgbClr val="7B4FC9"/>
            </a:solidFill>
            <a:prstDash val="solid"/>
          </a:ln>
        </p:spPr>
      </p:sp>
      <p:sp>
        <p:nvSpPr>
          <p:cNvPr id="4" name="Text 2"/>
          <p:cNvSpPr/>
          <p:nvPr/>
        </p:nvSpPr>
        <p:spPr>
          <a:xfrm>
            <a:off x="365760" y="54864"/>
            <a:ext cx="2286000" cy="219456"/>
          </a:xfrm>
          <a:prstGeom prst="rect">
            <a:avLst/>
          </a:prstGeom>
          <a:noFill/>
          <a:ln/>
        </p:spPr>
        <p:txBody>
          <a:bodyPr wrap="square" rtlCol="0" anchor="ctr"/>
          <a:lstStyle/>
          <a:p>
            <a:pPr marL="0" indent="0">
              <a:buNone/>
            </a:pPr>
            <a:r>
              <a:rPr lang="en-US" sz="800" b="1" kern="0" spc="200" dirty="0">
                <a:solidFill>
                  <a:schemeClr val="bg1"/>
                </a:solidFill>
                <a:latin typeface="Calibri" pitchFamily="34" charset="0"/>
                <a:ea typeface="Calibri" pitchFamily="34" charset="-122"/>
                <a:cs typeface="Calibri" pitchFamily="34" charset="-120"/>
              </a:rPr>
              <a:t>REQUEST  10  /  10</a:t>
            </a:r>
            <a:endParaRPr lang="en-US" sz="800" dirty="0">
              <a:solidFill>
                <a:schemeClr val="bg1"/>
              </a:solidFill>
            </a:endParaRPr>
          </a:p>
        </p:txBody>
      </p:sp>
      <p:sp>
        <p:nvSpPr>
          <p:cNvPr id="5" name="Text 3"/>
          <p:cNvSpPr/>
          <p:nvPr/>
        </p:nvSpPr>
        <p:spPr>
          <a:xfrm>
            <a:off x="365760" y="256032"/>
            <a:ext cx="6858000" cy="438912"/>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Gross Sales Trends</a:t>
            </a:r>
            <a:endParaRPr lang="en-US" sz="1900" dirty="0"/>
          </a:p>
        </p:txBody>
      </p:sp>
      <p:sp>
        <p:nvSpPr>
          <p:cNvPr id="6" name="Shape 4"/>
          <p:cNvSpPr/>
          <p:nvPr/>
        </p:nvSpPr>
        <p:spPr>
          <a:xfrm>
            <a:off x="0" y="804672"/>
            <a:ext cx="9144000" cy="329184"/>
          </a:xfrm>
          <a:prstGeom prst="rect">
            <a:avLst/>
          </a:prstGeom>
          <a:solidFill>
            <a:srgbClr val="D6E4F7"/>
          </a:solidFill>
          <a:ln w="12700">
            <a:solidFill>
              <a:srgbClr val="D0DCF0"/>
            </a:solidFill>
            <a:prstDash val="solid"/>
          </a:ln>
        </p:spPr>
      </p:sp>
      <p:sp>
        <p:nvSpPr>
          <p:cNvPr id="7" name="Text 5"/>
          <p:cNvSpPr/>
          <p:nvPr/>
        </p:nvSpPr>
        <p:spPr>
          <a:xfrm>
            <a:off x="365760" y="804672"/>
            <a:ext cx="8595360" cy="329184"/>
          </a:xfrm>
          <a:prstGeom prst="rect">
            <a:avLst/>
          </a:prstGeom>
          <a:noFill/>
          <a:ln/>
        </p:spPr>
        <p:txBody>
          <a:bodyPr wrap="square" rtlCol="0" anchor="ctr"/>
          <a:lstStyle/>
          <a:p>
            <a:pPr marL="0" indent="0">
              <a:buNone/>
            </a:pPr>
            <a:r>
              <a:rPr lang="en-US" sz="950" i="1" dirty="0">
                <a:solidFill>
                  <a:srgbClr val="3D5175"/>
                </a:solidFill>
                <a:latin typeface="Calibri" pitchFamily="34" charset="0"/>
                <a:ea typeface="Calibri" pitchFamily="34" charset="-122"/>
                <a:cs typeface="Calibri" pitchFamily="34" charset="-120"/>
              </a:rPr>
              <a:t>❓  Report of gross sales for Croma India customer across all months</a:t>
            </a:r>
            <a:endParaRPr lang="en-US" sz="950" dirty="0"/>
          </a:p>
        </p:txBody>
      </p:sp>
      <p:graphicFrame>
        <p:nvGraphicFramePr>
          <p:cNvPr id="8" name="Chart 0"/>
          <p:cNvGraphicFramePr/>
          <p:nvPr>
            <p:extLst>
              <p:ext uri="{D42A27DB-BD31-4B8C-83A1-F6EECF244321}">
                <p14:modId xmlns:p14="http://schemas.microsoft.com/office/powerpoint/2010/main" val="2861788767"/>
              </p:ext>
            </p:extLst>
          </p:nvPr>
        </p:nvGraphicFramePr>
        <p:xfrm>
          <a:off x="320040" y="1207008"/>
          <a:ext cx="521208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320040" y="4114800"/>
            <a:ext cx="5212080" cy="914400"/>
          </a:xfrm>
          <a:prstGeom prst="rect">
            <a:avLst/>
          </a:prstGeom>
          <a:solidFill>
            <a:srgbClr val="1A2233"/>
          </a:solidFill>
          <a:ln w="10160">
            <a:solidFill>
              <a:srgbClr val="3D5175"/>
            </a:solidFill>
            <a:prstDash val="solid"/>
          </a:ln>
          <a:effectLst>
            <a:outerShdw blurRad="76200" dist="25400" dir="2700000" algn="bl" rotWithShape="0">
              <a:srgbClr val="9BB0CC">
                <a:alpha val="22000"/>
              </a:srgbClr>
            </a:outerShdw>
          </a:effectLst>
        </p:spPr>
      </p:sp>
      <p:sp>
        <p:nvSpPr>
          <p:cNvPr id="10" name="Shape 7"/>
          <p:cNvSpPr/>
          <p:nvPr/>
        </p:nvSpPr>
        <p:spPr>
          <a:xfrm>
            <a:off x="320040" y="4114800"/>
            <a:ext cx="5212080" cy="256032"/>
          </a:xfrm>
          <a:prstGeom prst="rect">
            <a:avLst/>
          </a:prstGeom>
          <a:solidFill>
            <a:srgbClr val="2C3E5A"/>
          </a:solidFill>
          <a:ln w="12700">
            <a:solidFill>
              <a:srgbClr val="2C3E5A"/>
            </a:solidFill>
            <a:prstDash val="solid"/>
          </a:ln>
        </p:spPr>
      </p:sp>
      <p:sp>
        <p:nvSpPr>
          <p:cNvPr id="11" name="Text 8"/>
          <p:cNvSpPr/>
          <p:nvPr/>
        </p:nvSpPr>
        <p:spPr>
          <a:xfrm>
            <a:off x="320040" y="4114800"/>
            <a:ext cx="5212080" cy="256032"/>
          </a:xfrm>
          <a:prstGeom prst="rect">
            <a:avLst/>
          </a:prstGeom>
          <a:noFill/>
          <a:ln/>
        </p:spPr>
        <p:txBody>
          <a:bodyPr wrap="square" rtlCol="0" anchor="ctr"/>
          <a:lstStyle/>
          <a:p>
            <a:pPr marL="0" indent="0">
              <a:buNone/>
            </a:pPr>
            <a:r>
              <a:rPr lang="en-US" sz="800" dirty="0">
                <a:solidFill>
                  <a:srgbClr val="8AA0BC"/>
                </a:solidFill>
                <a:latin typeface="Courier New" pitchFamily="34" charset="0"/>
                <a:ea typeface="Courier New" pitchFamily="34" charset="-122"/>
                <a:cs typeface="Courier New" pitchFamily="34" charset="-120"/>
              </a:rPr>
              <a:t>  ●  ●  ●   MySQL Output</a:t>
            </a:r>
            <a:endParaRPr lang="en-US" sz="800" dirty="0"/>
          </a:p>
        </p:txBody>
      </p:sp>
      <p:sp>
        <p:nvSpPr>
          <p:cNvPr id="12" name="Text 9"/>
          <p:cNvSpPr/>
          <p:nvPr/>
        </p:nvSpPr>
        <p:spPr>
          <a:xfrm>
            <a:off x="411480" y="4389120"/>
            <a:ext cx="5074920" cy="594360"/>
          </a:xfrm>
          <a:prstGeom prst="rect">
            <a:avLst/>
          </a:prstGeom>
          <a:noFill/>
          <a:ln/>
        </p:spPr>
        <p:txBody>
          <a:bodyPr wrap="square" rtlCol="0" anchor="t"/>
          <a:lstStyle/>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SELECT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CONCAT(YEAR(date),'-',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MONTHNAME(date)) AS month_year,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ROUND(SUM(s.sold_quantity</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 g.gross_price)/1000000, 2)</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AS gross_sales_mln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FROM fact_sales_monthly s</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JOIN fact_gross_price g</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ON s.product_code = g.product_code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AND s.fiscal_year = g.fiscal_year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JOIN dim_customer c</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ON s.customer_code = c.customer_code</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WHERE c.customer = 'Croma'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AND c.market = 'India'</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GROUP BY month_year</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ORDER BY date;</a:t>
            </a:r>
            <a:endParaRPr lang="en-US" sz="780" dirty="0"/>
          </a:p>
          <a:p>
            <a:pPr marL="0" indent="0">
              <a:spcAft>
                <a:spcPts val="100"/>
              </a:spcAft>
              <a:buNone/>
            </a:pP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month          gross_mln</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     ---------</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2019-September      0.78</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2019-October        1.03</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a:t>
            </a:r>
            <a:endParaRPr lang="en-US" sz="780" dirty="0"/>
          </a:p>
          <a:p>
            <a:pPr marL="0" indent="0">
              <a:spcAft>
                <a:spcPts val="100"/>
              </a:spcAft>
              <a:buNone/>
            </a:pPr>
            <a:r>
              <a:rPr lang="en-US" sz="780" dirty="0">
                <a:solidFill>
                  <a:srgbClr val="C8E0B8"/>
                </a:solidFill>
                <a:latin typeface="Courier New" pitchFamily="34" charset="0"/>
                <a:ea typeface="Courier New" pitchFamily="34" charset="-122"/>
                <a:cs typeface="Courier New" pitchFamily="34" charset="-120"/>
              </a:rPr>
              <a:t>2021-August         4.70</a:t>
            </a:r>
            <a:endParaRPr lang="en-US" sz="780" dirty="0"/>
          </a:p>
        </p:txBody>
      </p:sp>
      <p:sp>
        <p:nvSpPr>
          <p:cNvPr id="13" name="Shape 10"/>
          <p:cNvSpPr/>
          <p:nvPr/>
        </p:nvSpPr>
        <p:spPr>
          <a:xfrm>
            <a:off x="5669280" y="1207008"/>
            <a:ext cx="3154680" cy="17007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4" name="Shape 11"/>
          <p:cNvSpPr/>
          <p:nvPr/>
        </p:nvSpPr>
        <p:spPr>
          <a:xfrm>
            <a:off x="5669280" y="1207008"/>
            <a:ext cx="64008" cy="1700784"/>
          </a:xfrm>
          <a:prstGeom prst="rect">
            <a:avLst/>
          </a:prstGeom>
          <a:solidFill>
            <a:srgbClr val="7B4FC9"/>
          </a:solidFill>
          <a:ln w="12700">
            <a:solidFill>
              <a:srgbClr val="7B4FC9"/>
            </a:solidFill>
            <a:prstDash val="solid"/>
          </a:ln>
        </p:spPr>
      </p:sp>
      <p:sp>
        <p:nvSpPr>
          <p:cNvPr id="15" name="Text 12"/>
          <p:cNvSpPr/>
          <p:nvPr/>
        </p:nvSpPr>
        <p:spPr>
          <a:xfrm>
            <a:off x="5852160" y="1261872"/>
            <a:ext cx="2834640" cy="237744"/>
          </a:xfrm>
          <a:prstGeom prst="rect">
            <a:avLst/>
          </a:prstGeom>
          <a:noFill/>
          <a:ln/>
        </p:spPr>
        <p:txBody>
          <a:bodyPr wrap="square" rtlCol="0" anchor="ctr"/>
          <a:lstStyle/>
          <a:p>
            <a:pPr marL="0" indent="0">
              <a:buNone/>
            </a:pPr>
            <a:r>
              <a:rPr lang="en-US" sz="1000" b="1" kern="0" spc="150" dirty="0">
                <a:solidFill>
                  <a:srgbClr val="7B4FC9"/>
                </a:solidFill>
                <a:latin typeface="Calibri" pitchFamily="34" charset="0"/>
                <a:ea typeface="Calibri" pitchFamily="34" charset="-122"/>
                <a:cs typeface="Calibri" pitchFamily="34" charset="-120"/>
              </a:rPr>
              <a:t>KEY FINDINGS</a:t>
            </a:r>
            <a:endParaRPr lang="en-US" sz="1000" dirty="0"/>
          </a:p>
        </p:txBody>
      </p:sp>
      <p:sp>
        <p:nvSpPr>
          <p:cNvPr id="16" name="Text 13"/>
          <p:cNvSpPr/>
          <p:nvPr/>
        </p:nvSpPr>
        <p:spPr>
          <a:xfrm>
            <a:off x="5852160" y="1536192"/>
            <a:ext cx="2880360" cy="1371600"/>
          </a:xfrm>
          <a:prstGeom prst="rect">
            <a:avLst/>
          </a:prstGeom>
          <a:noFill/>
          <a:ln/>
        </p:spPr>
        <p:txBody>
          <a:bodyPr wrap="square" rtlCol="0" anchor="ctr"/>
          <a:lstStyle/>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Croma India FY2021 peak: November 2021 — ₹4.70M in a single month</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Significant YoY growth from FY2020 to FY2021</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Consistent seasonal uptick in Q4 (holiday &amp; new product launch season)</a:t>
            </a:r>
            <a:endParaRPr lang="en-US" sz="1000" dirty="0"/>
          </a:p>
          <a:p>
            <a:pPr marL="342900" indent="-342900">
              <a:spcAft>
                <a:spcPts val="300"/>
              </a:spcAft>
              <a:buSzPct val="100000"/>
              <a:buChar char="•"/>
            </a:pPr>
            <a:r>
              <a:rPr lang="en-US" sz="1000" dirty="0">
                <a:solidFill>
                  <a:srgbClr val="1A2233"/>
                </a:solidFill>
                <a:latin typeface="Calibri" pitchFamily="34" charset="0"/>
                <a:ea typeface="Calibri" pitchFamily="34" charset="-122"/>
                <a:cs typeface="Calibri" pitchFamily="34" charset="-120"/>
              </a:rPr>
              <a:t>Croma is a key strategic partner in the Indian retail channel</a:t>
            </a:r>
            <a:endParaRPr lang="en-US" sz="1000" dirty="0"/>
          </a:p>
        </p:txBody>
      </p:sp>
      <p:sp>
        <p:nvSpPr>
          <p:cNvPr id="17" name="Shape 14"/>
          <p:cNvSpPr/>
          <p:nvPr/>
        </p:nvSpPr>
        <p:spPr>
          <a:xfrm>
            <a:off x="5669280" y="3035808"/>
            <a:ext cx="3154680" cy="75895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8" name="Shape 15"/>
          <p:cNvSpPr/>
          <p:nvPr/>
        </p:nvSpPr>
        <p:spPr>
          <a:xfrm>
            <a:off x="5669280" y="3035808"/>
            <a:ext cx="91440" cy="758952"/>
          </a:xfrm>
          <a:prstGeom prst="rect">
            <a:avLst/>
          </a:prstGeom>
          <a:solidFill>
            <a:srgbClr val="D4860B"/>
          </a:solidFill>
          <a:ln w="12700">
            <a:solidFill>
              <a:srgbClr val="D4860B"/>
            </a:solidFill>
            <a:prstDash val="solid"/>
          </a:ln>
        </p:spPr>
      </p:sp>
      <p:sp>
        <p:nvSpPr>
          <p:cNvPr id="19" name="Text 16"/>
          <p:cNvSpPr/>
          <p:nvPr/>
        </p:nvSpPr>
        <p:spPr>
          <a:xfrm>
            <a:off x="5852160" y="3108960"/>
            <a:ext cx="2834640" cy="173736"/>
          </a:xfrm>
          <a:prstGeom prst="rect">
            <a:avLst/>
          </a:prstGeom>
          <a:noFill/>
          <a:ln/>
        </p:spPr>
        <p:txBody>
          <a:bodyPr wrap="square" rtlCol="0" anchor="ctr"/>
          <a:lstStyle/>
          <a:p>
            <a:pPr marL="0" indent="0">
              <a:buNone/>
            </a:pPr>
            <a:r>
              <a:rPr lang="en-US" sz="1000" b="1" kern="0" spc="150" dirty="0">
                <a:solidFill>
                  <a:srgbClr val="D4860B"/>
                </a:solidFill>
                <a:latin typeface="Calibri" pitchFamily="34" charset="0"/>
                <a:ea typeface="Calibri" pitchFamily="34" charset="-122"/>
                <a:cs typeface="Calibri" pitchFamily="34" charset="-120"/>
              </a:rPr>
              <a:t>BUSINESS IMPACT</a:t>
            </a:r>
            <a:endParaRPr lang="en-US" sz="1000" dirty="0"/>
          </a:p>
        </p:txBody>
      </p:sp>
      <p:sp>
        <p:nvSpPr>
          <p:cNvPr id="20" name="Text 17"/>
          <p:cNvSpPr/>
          <p:nvPr/>
        </p:nvSpPr>
        <p:spPr>
          <a:xfrm>
            <a:off x="5852160" y="3310128"/>
            <a:ext cx="2880360" cy="420624"/>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Croma represents a high-value customer with predictable seasonal patterns — enables precise promotional and inventory planning.</a:t>
            </a:r>
            <a:endParaRPr lang="en-US" sz="1000" dirty="0"/>
          </a:p>
        </p:txBody>
      </p:sp>
      <p:sp>
        <p:nvSpPr>
          <p:cNvPr id="21" name="Shape 18"/>
          <p:cNvSpPr/>
          <p:nvPr/>
        </p:nvSpPr>
        <p:spPr>
          <a:xfrm>
            <a:off x="5669280" y="3867912"/>
            <a:ext cx="3154680" cy="1161288"/>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2" name="Shape 19"/>
          <p:cNvSpPr/>
          <p:nvPr/>
        </p:nvSpPr>
        <p:spPr>
          <a:xfrm>
            <a:off x="5669280" y="3867912"/>
            <a:ext cx="64008" cy="1161288"/>
          </a:xfrm>
          <a:prstGeom prst="rect">
            <a:avLst/>
          </a:prstGeom>
          <a:solidFill>
            <a:srgbClr val="1E8A5E"/>
          </a:solidFill>
          <a:ln w="12700">
            <a:solidFill>
              <a:srgbClr val="1E8A5E"/>
            </a:solidFill>
            <a:prstDash val="solid"/>
          </a:ln>
        </p:spPr>
      </p:sp>
      <p:sp>
        <p:nvSpPr>
          <p:cNvPr id="23" name="Text 20"/>
          <p:cNvSpPr/>
          <p:nvPr/>
        </p:nvSpPr>
        <p:spPr>
          <a:xfrm>
            <a:off x="5852160" y="3922776"/>
            <a:ext cx="2834640" cy="219456"/>
          </a:xfrm>
          <a:prstGeom prst="rect">
            <a:avLst/>
          </a:prstGeom>
          <a:noFill/>
          <a:ln/>
        </p:spPr>
        <p:txBody>
          <a:bodyPr wrap="square" rtlCol="0" anchor="ctr"/>
          <a:lstStyle/>
          <a:p>
            <a:pPr marL="0" indent="0">
              <a:buNone/>
            </a:pPr>
            <a:r>
              <a:rPr lang="en-US" sz="1000" b="1" kern="0" spc="150" dirty="0">
                <a:solidFill>
                  <a:srgbClr val="1E8A5E"/>
                </a:solidFill>
                <a:latin typeface="Calibri" pitchFamily="34" charset="0"/>
                <a:ea typeface="Calibri" pitchFamily="34" charset="-122"/>
                <a:cs typeface="Calibri" pitchFamily="34" charset="-120"/>
              </a:rPr>
              <a:t>RECOMMENDATION</a:t>
            </a:r>
            <a:endParaRPr lang="en-US" sz="1000" dirty="0"/>
          </a:p>
        </p:txBody>
      </p:sp>
      <p:sp>
        <p:nvSpPr>
          <p:cNvPr id="24" name="Text 21"/>
          <p:cNvSpPr/>
          <p:nvPr/>
        </p:nvSpPr>
        <p:spPr>
          <a:xfrm>
            <a:off x="5852160" y="4169664"/>
            <a:ext cx="2880360" cy="777240"/>
          </a:xfrm>
          <a:prstGeom prst="rect">
            <a:avLst/>
          </a:prstGeom>
          <a:noFill/>
          <a:ln/>
        </p:spPr>
        <p:txBody>
          <a:bodyPr wrap="square" rtlCol="0" anchor="ctr"/>
          <a:lstStyle/>
          <a:p>
            <a:pPr marL="0" indent="0">
              <a:buNone/>
            </a:pPr>
            <a:r>
              <a:rPr lang="en-US" sz="1000" dirty="0">
                <a:solidFill>
                  <a:srgbClr val="1A2233"/>
                </a:solidFill>
                <a:latin typeface="Calibri" pitchFamily="34" charset="0"/>
                <a:ea typeface="Calibri" pitchFamily="34" charset="-122"/>
                <a:cs typeface="Calibri" pitchFamily="34" charset="-120"/>
              </a:rPr>
              <a:t>Lock in strategic partnership terms with Croma for seasonal pushes. Develop JBP including co-marketing during peak months (Oct–Dec).</a:t>
            </a:r>
            <a:endParaRPr lang="en-US" sz="1000" dirty="0"/>
          </a:p>
        </p:txBody>
      </p:sp>
      <p:sp>
        <p:nvSpPr>
          <p:cNvPr id="25" name="Shape 22"/>
          <p:cNvSpPr/>
          <p:nvPr/>
        </p:nvSpPr>
        <p:spPr>
          <a:xfrm>
            <a:off x="320040" y="4754880"/>
            <a:ext cx="1965960" cy="237744"/>
          </a:xfrm>
          <a:prstGeom prst="roundRect">
            <a:avLst>
              <a:gd name="adj" fmla="val 23077"/>
            </a:avLst>
          </a:prstGeom>
          <a:solidFill>
            <a:srgbClr val="1B6CA8"/>
          </a:solidFill>
          <a:ln w="12700">
            <a:solidFill>
              <a:srgbClr val="1B6CA8"/>
            </a:solidFill>
            <a:prstDash val="solid"/>
          </a:ln>
        </p:spPr>
      </p:sp>
      <p:sp>
        <p:nvSpPr>
          <p:cNvPr id="26" name="Text 23"/>
          <p:cNvSpPr/>
          <p:nvPr/>
        </p:nvSpPr>
        <p:spPr>
          <a:xfrm>
            <a:off x="320040" y="4754880"/>
            <a:ext cx="19659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MySQL  |  SQL Query</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Key Business Insights</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000" i="1" dirty="0">
                <a:solidFill>
                  <a:srgbClr val="B8C8E4"/>
                </a:solidFill>
                <a:latin typeface="Calibri" pitchFamily="34" charset="0"/>
                <a:ea typeface="Calibri" pitchFamily="34" charset="-122"/>
                <a:cs typeface="Calibri" pitchFamily="34" charset="-120"/>
              </a:rPr>
              <a:t>Consolidated Management Takeaways from SQL Analysis</a:t>
            </a:r>
            <a:endParaRPr lang="en-US" sz="1000" dirty="0"/>
          </a:p>
        </p:txBody>
      </p:sp>
      <p:sp>
        <p:nvSpPr>
          <p:cNvPr id="6" name="Shape 4"/>
          <p:cNvSpPr/>
          <p:nvPr/>
        </p:nvSpPr>
        <p:spPr>
          <a:xfrm>
            <a:off x="320040" y="960120"/>
            <a:ext cx="4206240" cy="12435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7" name="Shape 5"/>
          <p:cNvSpPr/>
          <p:nvPr/>
        </p:nvSpPr>
        <p:spPr>
          <a:xfrm>
            <a:off x="320040" y="960120"/>
            <a:ext cx="64008" cy="1243584"/>
          </a:xfrm>
          <a:prstGeom prst="rect">
            <a:avLst/>
          </a:prstGeom>
          <a:solidFill>
            <a:srgbClr val="1B6CA8"/>
          </a:solidFill>
          <a:ln w="12700">
            <a:solidFill>
              <a:srgbClr val="1B6CA8"/>
            </a:solidFill>
            <a:prstDash val="solid"/>
          </a:ln>
        </p:spPr>
      </p:sp>
      <p:sp>
        <p:nvSpPr>
          <p:cNvPr id="8" name="Text 6"/>
          <p:cNvSpPr/>
          <p:nvPr/>
        </p:nvSpPr>
        <p:spPr>
          <a:xfrm>
            <a:off x="521208" y="1051560"/>
            <a:ext cx="3840480" cy="274320"/>
          </a:xfrm>
          <a:prstGeom prst="rect">
            <a:avLst/>
          </a:prstGeom>
          <a:noFill/>
          <a:ln/>
        </p:spPr>
        <p:txBody>
          <a:bodyPr wrap="square" rtlCol="0" anchor="ctr"/>
          <a:lstStyle/>
          <a:p>
            <a:pPr marL="0" indent="0">
              <a:buNone/>
            </a:pPr>
            <a:r>
              <a:rPr lang="en-US" sz="1200" b="1" dirty="0">
                <a:solidFill>
                  <a:srgbClr val="1B6CA8"/>
                </a:solidFill>
                <a:latin typeface="Calibri" pitchFamily="34" charset="0"/>
                <a:ea typeface="Calibri" pitchFamily="34" charset="-122"/>
                <a:cs typeface="Calibri" pitchFamily="34" charset="-120"/>
              </a:rPr>
              <a:t>APAC Expansion</a:t>
            </a:r>
            <a:endParaRPr lang="en-US" sz="1200" dirty="0"/>
          </a:p>
        </p:txBody>
      </p:sp>
      <p:sp>
        <p:nvSpPr>
          <p:cNvPr id="9" name="Text 7"/>
          <p:cNvSpPr/>
          <p:nvPr/>
        </p:nvSpPr>
        <p:spPr>
          <a:xfrm>
            <a:off x="521208" y="1362456"/>
            <a:ext cx="3840480" cy="713232"/>
          </a:xfrm>
          <a:prstGeom prst="rect">
            <a:avLst/>
          </a:prstGeom>
          <a:noFill/>
          <a:ln/>
        </p:spPr>
        <p:txBody>
          <a:bodyPr wrap="square" rtlCol="0" anchor="ctr"/>
          <a:lstStyle/>
          <a:p>
            <a:pPr marL="0" indent="0">
              <a:buNone/>
            </a:pPr>
            <a:r>
              <a:rPr lang="en-US" sz="950" dirty="0">
                <a:solidFill>
                  <a:srgbClr val="1A2233"/>
                </a:solidFill>
                <a:latin typeface="Calibri" pitchFamily="34" charset="0"/>
                <a:ea typeface="Calibri" pitchFamily="34" charset="-122"/>
                <a:cs typeface="Calibri" pitchFamily="34" charset="-120"/>
              </a:rPr>
              <a:t>8 APAC markets with India as anchor. Bangladesh &amp; Philippines require dedicated investment for accelerated growth.</a:t>
            </a:r>
            <a:endParaRPr lang="en-US" sz="950" dirty="0"/>
          </a:p>
        </p:txBody>
      </p:sp>
      <p:sp>
        <p:nvSpPr>
          <p:cNvPr id="10" name="Shape 8"/>
          <p:cNvSpPr/>
          <p:nvPr/>
        </p:nvSpPr>
        <p:spPr>
          <a:xfrm>
            <a:off x="320040" y="2313432"/>
            <a:ext cx="4206240" cy="12435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1" name="Shape 9"/>
          <p:cNvSpPr/>
          <p:nvPr/>
        </p:nvSpPr>
        <p:spPr>
          <a:xfrm>
            <a:off x="320040" y="2313432"/>
            <a:ext cx="64008" cy="1243584"/>
          </a:xfrm>
          <a:prstGeom prst="rect">
            <a:avLst/>
          </a:prstGeom>
          <a:solidFill>
            <a:srgbClr val="1E8A5E"/>
          </a:solidFill>
          <a:ln w="12700">
            <a:solidFill>
              <a:srgbClr val="1E8A5E"/>
            </a:solidFill>
            <a:prstDash val="solid"/>
          </a:ln>
        </p:spPr>
      </p:sp>
      <p:sp>
        <p:nvSpPr>
          <p:cNvPr id="12" name="Text 10"/>
          <p:cNvSpPr/>
          <p:nvPr/>
        </p:nvSpPr>
        <p:spPr>
          <a:xfrm>
            <a:off x="521208" y="2404872"/>
            <a:ext cx="3840480" cy="274320"/>
          </a:xfrm>
          <a:prstGeom prst="rect">
            <a:avLst/>
          </a:prstGeom>
          <a:noFill/>
          <a:ln/>
        </p:spPr>
        <p:txBody>
          <a:bodyPr wrap="square" rtlCol="0" anchor="ctr"/>
          <a:lstStyle/>
          <a:p>
            <a:pPr marL="0" indent="0">
              <a:buNone/>
            </a:pPr>
            <a:r>
              <a:rPr lang="en-US" sz="1200" b="1" dirty="0">
                <a:solidFill>
                  <a:srgbClr val="1E8A5E"/>
                </a:solidFill>
                <a:latin typeface="Calibri" pitchFamily="34" charset="0"/>
                <a:ea typeface="Calibri" pitchFamily="34" charset="-122"/>
                <a:cs typeface="Calibri" pitchFamily="34" charset="-120"/>
              </a:rPr>
              <a:t>Portfolio Velocity</a:t>
            </a:r>
            <a:endParaRPr lang="en-US" sz="1200" dirty="0"/>
          </a:p>
        </p:txBody>
      </p:sp>
      <p:sp>
        <p:nvSpPr>
          <p:cNvPr id="13" name="Text 11"/>
          <p:cNvSpPr/>
          <p:nvPr/>
        </p:nvSpPr>
        <p:spPr>
          <a:xfrm>
            <a:off x="521208" y="2715768"/>
            <a:ext cx="3840480" cy="713232"/>
          </a:xfrm>
          <a:prstGeom prst="rect">
            <a:avLst/>
          </a:prstGeom>
          <a:noFill/>
          <a:ln/>
        </p:spPr>
        <p:txBody>
          <a:bodyPr wrap="square" rtlCol="0" anchor="ctr"/>
          <a:lstStyle/>
          <a:p>
            <a:pPr marL="0" indent="0">
              <a:buNone/>
            </a:pPr>
            <a:r>
              <a:rPr lang="en-US" sz="950" dirty="0">
                <a:solidFill>
                  <a:srgbClr val="1A2233"/>
                </a:solidFill>
                <a:latin typeface="Calibri" pitchFamily="34" charset="0"/>
                <a:ea typeface="Calibri" pitchFamily="34" charset="-122"/>
                <a:cs typeface="Calibri" pitchFamily="34" charset="-120"/>
              </a:rPr>
              <a:t>36% YoY product growth proves strong innovation pipeline. Accessories is the fastest-growing segment (+34 SKUs).</a:t>
            </a:r>
            <a:endParaRPr lang="en-US" sz="950" dirty="0"/>
          </a:p>
        </p:txBody>
      </p:sp>
      <p:sp>
        <p:nvSpPr>
          <p:cNvPr id="14" name="Shape 12"/>
          <p:cNvSpPr/>
          <p:nvPr/>
        </p:nvSpPr>
        <p:spPr>
          <a:xfrm>
            <a:off x="320040" y="3666744"/>
            <a:ext cx="4206240" cy="12435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5" name="Shape 13"/>
          <p:cNvSpPr/>
          <p:nvPr/>
        </p:nvSpPr>
        <p:spPr>
          <a:xfrm>
            <a:off x="320040" y="3666744"/>
            <a:ext cx="64008" cy="1243584"/>
          </a:xfrm>
          <a:prstGeom prst="rect">
            <a:avLst/>
          </a:prstGeom>
          <a:solidFill>
            <a:srgbClr val="C03030"/>
          </a:solidFill>
          <a:ln w="12700">
            <a:solidFill>
              <a:srgbClr val="C03030"/>
            </a:solidFill>
            <a:prstDash val="solid"/>
          </a:ln>
        </p:spPr>
      </p:sp>
      <p:sp>
        <p:nvSpPr>
          <p:cNvPr id="16" name="Text 14"/>
          <p:cNvSpPr/>
          <p:nvPr/>
        </p:nvSpPr>
        <p:spPr>
          <a:xfrm>
            <a:off x="521208" y="3758184"/>
            <a:ext cx="3840480" cy="274320"/>
          </a:xfrm>
          <a:prstGeom prst="rect">
            <a:avLst/>
          </a:prstGeom>
          <a:noFill/>
          <a:ln/>
        </p:spPr>
        <p:txBody>
          <a:bodyPr wrap="square" rtlCol="0" anchor="ctr"/>
          <a:lstStyle/>
          <a:p>
            <a:pPr marL="0" indent="0">
              <a:buNone/>
            </a:pPr>
            <a:r>
              <a:rPr lang="en-US" sz="1200" b="1" dirty="0">
                <a:solidFill>
                  <a:srgbClr val="C03030"/>
                </a:solidFill>
                <a:latin typeface="Calibri" pitchFamily="34" charset="0"/>
                <a:ea typeface="Calibri" pitchFamily="34" charset="-122"/>
                <a:cs typeface="Calibri" pitchFamily="34" charset="-120"/>
              </a:rPr>
              <a:t>Channel Risk</a:t>
            </a:r>
            <a:endParaRPr lang="en-US" sz="1200" dirty="0"/>
          </a:p>
        </p:txBody>
      </p:sp>
      <p:sp>
        <p:nvSpPr>
          <p:cNvPr id="17" name="Text 15"/>
          <p:cNvSpPr/>
          <p:nvPr/>
        </p:nvSpPr>
        <p:spPr>
          <a:xfrm>
            <a:off x="521208" y="4069080"/>
            <a:ext cx="3840480" cy="713232"/>
          </a:xfrm>
          <a:prstGeom prst="rect">
            <a:avLst/>
          </a:prstGeom>
          <a:noFill/>
          <a:ln/>
        </p:spPr>
        <p:txBody>
          <a:bodyPr wrap="square" rtlCol="0" anchor="ctr"/>
          <a:lstStyle/>
          <a:p>
            <a:pPr marL="0" indent="0">
              <a:buNone/>
            </a:pPr>
            <a:r>
              <a:rPr lang="en-US" sz="950" dirty="0">
                <a:solidFill>
                  <a:srgbClr val="1A2233"/>
                </a:solidFill>
                <a:latin typeface="Calibri" pitchFamily="34" charset="0"/>
                <a:ea typeface="Calibri" pitchFamily="34" charset="-122"/>
                <a:cs typeface="Calibri" pitchFamily="34" charset="-120"/>
              </a:rPr>
              <a:t>73% revenue via Retailer creates concentration risk. Direct channel (15%) must be grown to protect margins.</a:t>
            </a:r>
            <a:endParaRPr lang="en-US" sz="950" dirty="0"/>
          </a:p>
        </p:txBody>
      </p:sp>
      <p:sp>
        <p:nvSpPr>
          <p:cNvPr id="18" name="Shape 16"/>
          <p:cNvSpPr/>
          <p:nvPr/>
        </p:nvSpPr>
        <p:spPr>
          <a:xfrm>
            <a:off x="4754880" y="960120"/>
            <a:ext cx="4206240" cy="12435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9" name="Shape 17"/>
          <p:cNvSpPr/>
          <p:nvPr/>
        </p:nvSpPr>
        <p:spPr>
          <a:xfrm>
            <a:off x="4754880" y="960120"/>
            <a:ext cx="64008" cy="1243584"/>
          </a:xfrm>
          <a:prstGeom prst="rect">
            <a:avLst/>
          </a:prstGeom>
          <a:solidFill>
            <a:srgbClr val="D4860B"/>
          </a:solidFill>
          <a:ln w="12700">
            <a:solidFill>
              <a:srgbClr val="D4860B"/>
            </a:solidFill>
            <a:prstDash val="solid"/>
          </a:ln>
        </p:spPr>
      </p:sp>
      <p:sp>
        <p:nvSpPr>
          <p:cNvPr id="20" name="Text 18"/>
          <p:cNvSpPr/>
          <p:nvPr/>
        </p:nvSpPr>
        <p:spPr>
          <a:xfrm>
            <a:off x="4956048" y="1051560"/>
            <a:ext cx="3840480" cy="274320"/>
          </a:xfrm>
          <a:prstGeom prst="rect">
            <a:avLst/>
          </a:prstGeom>
          <a:noFill/>
          <a:ln/>
        </p:spPr>
        <p:txBody>
          <a:bodyPr wrap="square" rtlCol="0" anchor="ctr"/>
          <a:lstStyle/>
          <a:p>
            <a:pPr marL="0" indent="0">
              <a:buNone/>
            </a:pPr>
            <a:r>
              <a:rPr lang="en-US" sz="1200" b="1" dirty="0">
                <a:solidFill>
                  <a:srgbClr val="D4860B"/>
                </a:solidFill>
                <a:latin typeface="Calibri" pitchFamily="34" charset="0"/>
                <a:ea typeface="Calibri" pitchFamily="34" charset="-122"/>
                <a:cs typeface="Calibri" pitchFamily="34" charset="-120"/>
              </a:rPr>
              <a:t>Discount Pressure</a:t>
            </a:r>
            <a:endParaRPr lang="en-US" sz="1200" dirty="0"/>
          </a:p>
        </p:txBody>
      </p:sp>
      <p:sp>
        <p:nvSpPr>
          <p:cNvPr id="21" name="Text 19"/>
          <p:cNvSpPr/>
          <p:nvPr/>
        </p:nvSpPr>
        <p:spPr>
          <a:xfrm>
            <a:off x="4956048" y="1362456"/>
            <a:ext cx="3840480" cy="713232"/>
          </a:xfrm>
          <a:prstGeom prst="rect">
            <a:avLst/>
          </a:prstGeom>
          <a:noFill/>
          <a:ln/>
        </p:spPr>
        <p:txBody>
          <a:bodyPr wrap="square" rtlCol="0" anchor="ctr"/>
          <a:lstStyle/>
          <a:p>
            <a:pPr marL="0" indent="0">
              <a:buNone/>
            </a:pPr>
            <a:r>
              <a:rPr lang="en-US" sz="950" dirty="0">
                <a:solidFill>
                  <a:srgbClr val="1A2233"/>
                </a:solidFill>
                <a:latin typeface="Calibri" pitchFamily="34" charset="0"/>
                <a:ea typeface="Calibri" pitchFamily="34" charset="-122"/>
                <a:cs typeface="Calibri" pitchFamily="34" charset="-120"/>
              </a:rPr>
              <a:t>Top Indian customers receive 29–31% discounts — nearly identical levels signal risk of margin erosion at scale.</a:t>
            </a:r>
            <a:endParaRPr lang="en-US" sz="950" dirty="0"/>
          </a:p>
        </p:txBody>
      </p:sp>
      <p:sp>
        <p:nvSpPr>
          <p:cNvPr id="22" name="Shape 20"/>
          <p:cNvSpPr/>
          <p:nvPr/>
        </p:nvSpPr>
        <p:spPr>
          <a:xfrm>
            <a:off x="4754880" y="2313432"/>
            <a:ext cx="4206240" cy="12435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3" name="Shape 21"/>
          <p:cNvSpPr/>
          <p:nvPr/>
        </p:nvSpPr>
        <p:spPr>
          <a:xfrm>
            <a:off x="4754880" y="2313432"/>
            <a:ext cx="64008" cy="1243584"/>
          </a:xfrm>
          <a:prstGeom prst="rect">
            <a:avLst/>
          </a:prstGeom>
          <a:solidFill>
            <a:srgbClr val="7B4FC9"/>
          </a:solidFill>
          <a:ln w="12700">
            <a:solidFill>
              <a:srgbClr val="7B4FC9"/>
            </a:solidFill>
            <a:prstDash val="solid"/>
          </a:ln>
        </p:spPr>
      </p:sp>
      <p:sp>
        <p:nvSpPr>
          <p:cNvPr id="24" name="Text 22"/>
          <p:cNvSpPr/>
          <p:nvPr/>
        </p:nvSpPr>
        <p:spPr>
          <a:xfrm>
            <a:off x="4956048" y="2404872"/>
            <a:ext cx="3840480" cy="274320"/>
          </a:xfrm>
          <a:prstGeom prst="rect">
            <a:avLst/>
          </a:prstGeom>
          <a:noFill/>
          <a:ln/>
        </p:spPr>
        <p:txBody>
          <a:bodyPr wrap="square" rtlCol="0" anchor="ctr"/>
          <a:lstStyle/>
          <a:p>
            <a:pPr marL="0" indent="0">
              <a:buNone/>
            </a:pPr>
            <a:r>
              <a:rPr lang="en-US" sz="1200" b="1" dirty="0">
                <a:solidFill>
                  <a:srgbClr val="7B4FC9"/>
                </a:solidFill>
                <a:latin typeface="Calibri" pitchFamily="34" charset="0"/>
                <a:ea typeface="Calibri" pitchFamily="34" charset="-122"/>
                <a:cs typeface="Calibri" pitchFamily="34" charset="-120"/>
              </a:rPr>
              <a:t>Seasonal Demand</a:t>
            </a:r>
            <a:endParaRPr lang="en-US" sz="1200" dirty="0"/>
          </a:p>
        </p:txBody>
      </p:sp>
      <p:sp>
        <p:nvSpPr>
          <p:cNvPr id="25" name="Text 23"/>
          <p:cNvSpPr/>
          <p:nvPr/>
        </p:nvSpPr>
        <p:spPr>
          <a:xfrm>
            <a:off x="4956048" y="2715768"/>
            <a:ext cx="3840480" cy="713232"/>
          </a:xfrm>
          <a:prstGeom prst="rect">
            <a:avLst/>
          </a:prstGeom>
          <a:noFill/>
          <a:ln/>
        </p:spPr>
        <p:txBody>
          <a:bodyPr wrap="square" rtlCol="0" anchor="ctr"/>
          <a:lstStyle/>
          <a:p>
            <a:pPr marL="0" indent="0">
              <a:buNone/>
            </a:pPr>
            <a:r>
              <a:rPr lang="en-US" sz="950" dirty="0">
                <a:solidFill>
                  <a:srgbClr val="1A2233"/>
                </a:solidFill>
                <a:latin typeface="Calibri" pitchFamily="34" charset="0"/>
                <a:ea typeface="Calibri" pitchFamily="34" charset="-122"/>
                <a:cs typeface="Calibri" pitchFamily="34" charset="-120"/>
              </a:rPr>
              <a:t>Q1 is peak sales quarter. Q3 FY2020 proved COVID vulnerability. Demand forecasting is now business-critical.</a:t>
            </a:r>
            <a:endParaRPr lang="en-US" sz="950" dirty="0"/>
          </a:p>
        </p:txBody>
      </p:sp>
      <p:sp>
        <p:nvSpPr>
          <p:cNvPr id="26" name="Shape 24"/>
          <p:cNvSpPr/>
          <p:nvPr/>
        </p:nvSpPr>
        <p:spPr>
          <a:xfrm>
            <a:off x="4754880" y="3666744"/>
            <a:ext cx="4206240" cy="1243584"/>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7" name="Shape 25"/>
          <p:cNvSpPr/>
          <p:nvPr/>
        </p:nvSpPr>
        <p:spPr>
          <a:xfrm>
            <a:off x="4754880" y="3666744"/>
            <a:ext cx="64008" cy="1243584"/>
          </a:xfrm>
          <a:prstGeom prst="rect">
            <a:avLst/>
          </a:prstGeom>
          <a:solidFill>
            <a:srgbClr val="0A8B9D"/>
          </a:solidFill>
          <a:ln w="12700">
            <a:solidFill>
              <a:srgbClr val="0A8B9D"/>
            </a:solidFill>
            <a:prstDash val="solid"/>
          </a:ln>
        </p:spPr>
      </p:sp>
      <p:sp>
        <p:nvSpPr>
          <p:cNvPr id="28" name="Text 26"/>
          <p:cNvSpPr/>
          <p:nvPr/>
        </p:nvSpPr>
        <p:spPr>
          <a:xfrm>
            <a:off x="4956048" y="3758184"/>
            <a:ext cx="3840480" cy="274320"/>
          </a:xfrm>
          <a:prstGeom prst="rect">
            <a:avLst/>
          </a:prstGeom>
          <a:noFill/>
          <a:ln/>
        </p:spPr>
        <p:txBody>
          <a:bodyPr wrap="square" rtlCol="0" anchor="ctr"/>
          <a:lstStyle/>
          <a:p>
            <a:pPr marL="0" indent="0">
              <a:buNone/>
            </a:pPr>
            <a:r>
              <a:rPr lang="en-US" sz="1200" b="1" dirty="0">
                <a:solidFill>
                  <a:srgbClr val="0A8B9D"/>
                </a:solidFill>
                <a:latin typeface="Calibri" pitchFamily="34" charset="0"/>
                <a:ea typeface="Calibri" pitchFamily="34" charset="-122"/>
                <a:cs typeface="Calibri" pitchFamily="34" charset="-120"/>
              </a:rPr>
              <a:t>Hero Products</a:t>
            </a:r>
            <a:endParaRPr lang="en-US" sz="1200" dirty="0"/>
          </a:p>
        </p:txBody>
      </p:sp>
      <p:sp>
        <p:nvSpPr>
          <p:cNvPr id="29" name="Text 27"/>
          <p:cNvSpPr/>
          <p:nvPr/>
        </p:nvSpPr>
        <p:spPr>
          <a:xfrm>
            <a:off x="4956048" y="4069080"/>
            <a:ext cx="3840480" cy="713232"/>
          </a:xfrm>
          <a:prstGeom prst="rect">
            <a:avLst/>
          </a:prstGeom>
          <a:noFill/>
          <a:ln/>
        </p:spPr>
        <p:txBody>
          <a:bodyPr wrap="square" rtlCol="0" anchor="ctr"/>
          <a:lstStyle/>
          <a:p>
            <a:pPr marL="0" indent="0">
              <a:buNone/>
            </a:pPr>
            <a:r>
              <a:rPr lang="en-US" sz="950" dirty="0">
                <a:solidFill>
                  <a:srgbClr val="1A2233"/>
                </a:solidFill>
                <a:latin typeface="Calibri" pitchFamily="34" charset="0"/>
                <a:ea typeface="Calibri" pitchFamily="34" charset="-122"/>
                <a:cs typeface="Calibri" pitchFamily="34" charset="-120"/>
              </a:rPr>
              <a:t>Top 3 products per division drive outsized volume. Stock reliability for these SKUs is a zero-defect expectation.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Strategic Recommendations</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000" i="1" dirty="0">
                <a:solidFill>
                  <a:srgbClr val="B8C8E4"/>
                </a:solidFill>
                <a:latin typeface="Calibri" pitchFamily="34" charset="0"/>
                <a:ea typeface="Calibri" pitchFamily="34" charset="-122"/>
                <a:cs typeface="Calibri" pitchFamily="34" charset="-120"/>
              </a:rPr>
              <a:t>Five Priority Actions for AtliQ Leadership</a:t>
            </a:r>
            <a:endParaRPr lang="en-US" sz="1000" dirty="0"/>
          </a:p>
        </p:txBody>
      </p:sp>
      <p:sp>
        <p:nvSpPr>
          <p:cNvPr id="6" name="Shape 4"/>
          <p:cNvSpPr/>
          <p:nvPr/>
        </p:nvSpPr>
        <p:spPr>
          <a:xfrm>
            <a:off x="274320" y="1005840"/>
            <a:ext cx="1572768" cy="384048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7" name="Shape 5"/>
          <p:cNvSpPr/>
          <p:nvPr/>
        </p:nvSpPr>
        <p:spPr>
          <a:xfrm>
            <a:off x="274320" y="1005840"/>
            <a:ext cx="1572768" cy="64008"/>
          </a:xfrm>
          <a:prstGeom prst="rect">
            <a:avLst/>
          </a:prstGeom>
          <a:solidFill>
            <a:srgbClr val="1B6CA8"/>
          </a:solidFill>
          <a:ln w="12700">
            <a:solidFill>
              <a:srgbClr val="1B6CA8"/>
            </a:solidFill>
            <a:prstDash val="solid"/>
          </a:ln>
        </p:spPr>
      </p:sp>
      <p:sp>
        <p:nvSpPr>
          <p:cNvPr id="8" name="Text 6"/>
          <p:cNvSpPr/>
          <p:nvPr/>
        </p:nvSpPr>
        <p:spPr>
          <a:xfrm>
            <a:off x="347472" y="1097280"/>
            <a:ext cx="1435608" cy="457200"/>
          </a:xfrm>
          <a:prstGeom prst="rect">
            <a:avLst/>
          </a:prstGeom>
          <a:noFill/>
          <a:ln/>
        </p:spPr>
        <p:txBody>
          <a:bodyPr wrap="square" rtlCol="0" anchor="ctr"/>
          <a:lstStyle/>
          <a:p>
            <a:pPr marL="0" indent="0" algn="ctr">
              <a:buNone/>
            </a:pPr>
            <a:r>
              <a:rPr lang="en-US" sz="1400" b="1" dirty="0">
                <a:solidFill>
                  <a:srgbClr val="1B6CA8"/>
                </a:solidFill>
                <a:latin typeface="Calibri" pitchFamily="34" charset="0"/>
                <a:ea typeface="Calibri" pitchFamily="34" charset="-122"/>
                <a:cs typeface="Calibri" pitchFamily="34" charset="-120"/>
              </a:rPr>
              <a:t>Revenue Growth</a:t>
            </a:r>
            <a:endParaRPr lang="en-US" sz="1400" dirty="0"/>
          </a:p>
        </p:txBody>
      </p:sp>
      <p:sp>
        <p:nvSpPr>
          <p:cNvPr id="9" name="Text 7"/>
          <p:cNvSpPr/>
          <p:nvPr/>
        </p:nvSpPr>
        <p:spPr>
          <a:xfrm>
            <a:off x="384048" y="1627632"/>
            <a:ext cx="1353312" cy="3108960"/>
          </a:xfrm>
          <a:prstGeom prst="rect">
            <a:avLst/>
          </a:prstGeom>
          <a:noFill/>
          <a:ln/>
        </p:spPr>
        <p:txBody>
          <a:bodyPr wrap="square" rtlCol="0" anchor="ctr"/>
          <a:lstStyle/>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Launch APAC expansion playbook targeting Philippines &amp; Bangladesh</a:t>
            </a:r>
            <a:endParaRPr lang="en-US" sz="1100" dirty="0"/>
          </a:p>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Introduce seasonal sales incentives aligned to Q1 peak demand</a:t>
            </a:r>
            <a:endParaRPr lang="en-US" sz="1100" dirty="0"/>
          </a:p>
        </p:txBody>
      </p:sp>
      <p:sp>
        <p:nvSpPr>
          <p:cNvPr id="10" name="Shape 8"/>
          <p:cNvSpPr/>
          <p:nvPr/>
        </p:nvSpPr>
        <p:spPr>
          <a:xfrm>
            <a:off x="2011680" y="1005840"/>
            <a:ext cx="1572768" cy="384048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1" name="Shape 9"/>
          <p:cNvSpPr/>
          <p:nvPr/>
        </p:nvSpPr>
        <p:spPr>
          <a:xfrm>
            <a:off x="2011680" y="1005840"/>
            <a:ext cx="1572768" cy="64008"/>
          </a:xfrm>
          <a:prstGeom prst="rect">
            <a:avLst/>
          </a:prstGeom>
          <a:solidFill>
            <a:srgbClr val="1E8A5E"/>
          </a:solidFill>
          <a:ln w="12700">
            <a:solidFill>
              <a:srgbClr val="1E8A5E"/>
            </a:solidFill>
            <a:prstDash val="solid"/>
          </a:ln>
        </p:spPr>
      </p:sp>
      <p:sp>
        <p:nvSpPr>
          <p:cNvPr id="12" name="Text 10"/>
          <p:cNvSpPr/>
          <p:nvPr/>
        </p:nvSpPr>
        <p:spPr>
          <a:xfrm>
            <a:off x="2084832" y="1097280"/>
            <a:ext cx="1435608" cy="457200"/>
          </a:xfrm>
          <a:prstGeom prst="rect">
            <a:avLst/>
          </a:prstGeom>
          <a:noFill/>
          <a:ln/>
        </p:spPr>
        <p:txBody>
          <a:bodyPr wrap="square" rtlCol="0" anchor="ctr"/>
          <a:lstStyle/>
          <a:p>
            <a:pPr marL="0" indent="0" algn="ctr">
              <a:buNone/>
            </a:pPr>
            <a:r>
              <a:rPr lang="en-US" sz="1400" b="1" dirty="0">
                <a:solidFill>
                  <a:srgbClr val="1E8A5E"/>
                </a:solidFill>
                <a:latin typeface="Calibri" pitchFamily="34" charset="0"/>
                <a:ea typeface="Calibri" pitchFamily="34" charset="-122"/>
                <a:cs typeface="Calibri" pitchFamily="34" charset="-120"/>
              </a:rPr>
              <a:t>Product Strategy</a:t>
            </a:r>
            <a:endParaRPr lang="en-US" sz="1400" dirty="0"/>
          </a:p>
        </p:txBody>
      </p:sp>
      <p:sp>
        <p:nvSpPr>
          <p:cNvPr id="13" name="Text 11"/>
          <p:cNvSpPr/>
          <p:nvPr/>
        </p:nvSpPr>
        <p:spPr>
          <a:xfrm>
            <a:off x="2121408" y="1627632"/>
            <a:ext cx="1353312" cy="3108960"/>
          </a:xfrm>
          <a:prstGeom prst="rect">
            <a:avLst/>
          </a:prstGeom>
          <a:noFill/>
          <a:ln/>
        </p:spPr>
        <p:txBody>
          <a:bodyPr wrap="square" rtlCol="0" anchor="ctr"/>
          <a:lstStyle/>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Conduct SKU rationalisation — retire low-margin products</a:t>
            </a:r>
            <a:endParaRPr lang="en-US" sz="1100" dirty="0"/>
          </a:p>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Accelerate Accessories NPD to capitalise on segment momentum</a:t>
            </a:r>
            <a:endParaRPr lang="en-US" sz="1100" dirty="0"/>
          </a:p>
        </p:txBody>
      </p:sp>
      <p:sp>
        <p:nvSpPr>
          <p:cNvPr id="14" name="Shape 12"/>
          <p:cNvSpPr/>
          <p:nvPr/>
        </p:nvSpPr>
        <p:spPr>
          <a:xfrm>
            <a:off x="3749040" y="1005840"/>
            <a:ext cx="1572768" cy="384048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5" name="Shape 13"/>
          <p:cNvSpPr/>
          <p:nvPr/>
        </p:nvSpPr>
        <p:spPr>
          <a:xfrm>
            <a:off x="3749040" y="1005840"/>
            <a:ext cx="1572768" cy="64008"/>
          </a:xfrm>
          <a:prstGeom prst="rect">
            <a:avLst/>
          </a:prstGeom>
          <a:solidFill>
            <a:srgbClr val="D4860B"/>
          </a:solidFill>
          <a:ln w="12700">
            <a:solidFill>
              <a:srgbClr val="D4860B"/>
            </a:solidFill>
            <a:prstDash val="solid"/>
          </a:ln>
        </p:spPr>
      </p:sp>
      <p:sp>
        <p:nvSpPr>
          <p:cNvPr id="16" name="Text 14"/>
          <p:cNvSpPr/>
          <p:nvPr/>
        </p:nvSpPr>
        <p:spPr>
          <a:xfrm>
            <a:off x="3822192" y="1097280"/>
            <a:ext cx="1435608" cy="457200"/>
          </a:xfrm>
          <a:prstGeom prst="rect">
            <a:avLst/>
          </a:prstGeom>
          <a:noFill/>
          <a:ln/>
        </p:spPr>
        <p:txBody>
          <a:bodyPr wrap="square" rtlCol="0" anchor="ctr"/>
          <a:lstStyle/>
          <a:p>
            <a:pPr marL="0" indent="0" algn="ctr">
              <a:buNone/>
            </a:pPr>
            <a:r>
              <a:rPr lang="en-US" sz="1400" b="1" dirty="0">
                <a:solidFill>
                  <a:srgbClr val="D4860B"/>
                </a:solidFill>
                <a:latin typeface="Calibri" pitchFamily="34" charset="0"/>
                <a:ea typeface="Calibri" pitchFamily="34" charset="-122"/>
                <a:cs typeface="Calibri" pitchFamily="34" charset="-120"/>
              </a:rPr>
              <a:t>Customer Strategy</a:t>
            </a:r>
            <a:endParaRPr lang="en-US" sz="1400" dirty="0"/>
          </a:p>
        </p:txBody>
      </p:sp>
      <p:sp>
        <p:nvSpPr>
          <p:cNvPr id="17" name="Text 15"/>
          <p:cNvSpPr/>
          <p:nvPr/>
        </p:nvSpPr>
        <p:spPr>
          <a:xfrm>
            <a:off x="3858768" y="1627632"/>
            <a:ext cx="1353312" cy="3108960"/>
          </a:xfrm>
          <a:prstGeom prst="rect">
            <a:avLst/>
          </a:prstGeom>
          <a:noFill/>
          <a:ln/>
        </p:spPr>
        <p:txBody>
          <a:bodyPr wrap="square" rtlCol="0" anchor="ctr"/>
          <a:lstStyle/>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Restructure top-5 Indian customer discounts with value-based frameworks</a:t>
            </a:r>
            <a:endParaRPr lang="en-US" sz="1100" dirty="0"/>
          </a:p>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Build Joint Business Plans (JBPs) with strategic accounts like Croma</a:t>
            </a:r>
            <a:endParaRPr lang="en-US" sz="1100" dirty="0"/>
          </a:p>
        </p:txBody>
      </p:sp>
      <p:sp>
        <p:nvSpPr>
          <p:cNvPr id="18" name="Shape 16"/>
          <p:cNvSpPr/>
          <p:nvPr/>
        </p:nvSpPr>
        <p:spPr>
          <a:xfrm>
            <a:off x="5486400" y="1005840"/>
            <a:ext cx="1572768" cy="384048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9" name="Shape 17"/>
          <p:cNvSpPr/>
          <p:nvPr/>
        </p:nvSpPr>
        <p:spPr>
          <a:xfrm>
            <a:off x="5486400" y="1005840"/>
            <a:ext cx="1572768" cy="64008"/>
          </a:xfrm>
          <a:prstGeom prst="rect">
            <a:avLst/>
          </a:prstGeom>
          <a:solidFill>
            <a:srgbClr val="7B4FC9"/>
          </a:solidFill>
          <a:ln w="12700">
            <a:solidFill>
              <a:srgbClr val="7B4FC9"/>
            </a:solidFill>
            <a:prstDash val="solid"/>
          </a:ln>
        </p:spPr>
      </p:sp>
      <p:sp>
        <p:nvSpPr>
          <p:cNvPr id="20" name="Text 18"/>
          <p:cNvSpPr/>
          <p:nvPr/>
        </p:nvSpPr>
        <p:spPr>
          <a:xfrm>
            <a:off x="5559552" y="1097280"/>
            <a:ext cx="1435608" cy="457200"/>
          </a:xfrm>
          <a:prstGeom prst="rect">
            <a:avLst/>
          </a:prstGeom>
          <a:noFill/>
          <a:ln/>
        </p:spPr>
        <p:txBody>
          <a:bodyPr wrap="square" rtlCol="0" anchor="ctr"/>
          <a:lstStyle/>
          <a:p>
            <a:pPr marL="0" indent="0" algn="ctr">
              <a:buNone/>
            </a:pPr>
            <a:r>
              <a:rPr lang="en-US" sz="1400" b="1" dirty="0">
                <a:solidFill>
                  <a:srgbClr val="7B4FC9"/>
                </a:solidFill>
                <a:latin typeface="Calibri" pitchFamily="34" charset="0"/>
                <a:ea typeface="Calibri" pitchFamily="34" charset="-122"/>
                <a:cs typeface="Calibri" pitchFamily="34" charset="-120"/>
              </a:rPr>
              <a:t>Channel Optimisation</a:t>
            </a:r>
            <a:endParaRPr lang="en-US" sz="1400" dirty="0"/>
          </a:p>
        </p:txBody>
      </p:sp>
      <p:sp>
        <p:nvSpPr>
          <p:cNvPr id="21" name="Text 19"/>
          <p:cNvSpPr/>
          <p:nvPr/>
        </p:nvSpPr>
        <p:spPr>
          <a:xfrm>
            <a:off x="5596128" y="1627632"/>
            <a:ext cx="1353312" cy="3108960"/>
          </a:xfrm>
          <a:prstGeom prst="rect">
            <a:avLst/>
          </a:prstGeom>
          <a:noFill/>
          <a:ln/>
        </p:spPr>
        <p:txBody>
          <a:bodyPr wrap="square" rtlCol="0" anchor="ctr"/>
          <a:lstStyle/>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Invest in Direct (D2C) channel to reduce Retailer dependency</a:t>
            </a:r>
            <a:endParaRPr lang="en-US" sz="1100" dirty="0"/>
          </a:p>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Create exclusive SKUs and bundles for the online / direct segment</a:t>
            </a:r>
            <a:endParaRPr lang="en-US" sz="1100" dirty="0"/>
          </a:p>
        </p:txBody>
      </p:sp>
      <p:sp>
        <p:nvSpPr>
          <p:cNvPr id="22" name="Shape 20"/>
          <p:cNvSpPr/>
          <p:nvPr/>
        </p:nvSpPr>
        <p:spPr>
          <a:xfrm>
            <a:off x="7223760" y="1005840"/>
            <a:ext cx="1572768" cy="3840480"/>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23" name="Shape 21"/>
          <p:cNvSpPr/>
          <p:nvPr/>
        </p:nvSpPr>
        <p:spPr>
          <a:xfrm>
            <a:off x="7223760" y="1005840"/>
            <a:ext cx="1572768" cy="64008"/>
          </a:xfrm>
          <a:prstGeom prst="rect">
            <a:avLst/>
          </a:prstGeom>
          <a:solidFill>
            <a:srgbClr val="C03030"/>
          </a:solidFill>
          <a:ln w="12700">
            <a:solidFill>
              <a:srgbClr val="C03030"/>
            </a:solidFill>
            <a:prstDash val="solid"/>
          </a:ln>
        </p:spPr>
      </p:sp>
      <p:sp>
        <p:nvSpPr>
          <p:cNvPr id="24" name="Text 22"/>
          <p:cNvSpPr/>
          <p:nvPr/>
        </p:nvSpPr>
        <p:spPr>
          <a:xfrm>
            <a:off x="7296912" y="1097280"/>
            <a:ext cx="1435608" cy="457200"/>
          </a:xfrm>
          <a:prstGeom prst="rect">
            <a:avLst/>
          </a:prstGeom>
          <a:noFill/>
          <a:ln/>
        </p:spPr>
        <p:txBody>
          <a:bodyPr wrap="square" rtlCol="0" anchor="ctr"/>
          <a:lstStyle/>
          <a:p>
            <a:pPr marL="0" indent="0" algn="ctr">
              <a:buNone/>
            </a:pPr>
            <a:r>
              <a:rPr lang="en-US" sz="1400" b="1" dirty="0">
                <a:solidFill>
                  <a:srgbClr val="C03030"/>
                </a:solidFill>
                <a:latin typeface="Calibri" pitchFamily="34" charset="0"/>
                <a:ea typeface="Calibri" pitchFamily="34" charset="-122"/>
                <a:cs typeface="Calibri" pitchFamily="34" charset="-120"/>
              </a:rPr>
              <a:t>Cost &amp; Margin</a:t>
            </a:r>
            <a:endParaRPr lang="en-US" sz="1400" dirty="0"/>
          </a:p>
        </p:txBody>
      </p:sp>
      <p:sp>
        <p:nvSpPr>
          <p:cNvPr id="25" name="Text 23"/>
          <p:cNvSpPr/>
          <p:nvPr/>
        </p:nvSpPr>
        <p:spPr>
          <a:xfrm>
            <a:off x="7333488" y="1627632"/>
            <a:ext cx="1353312" cy="3108960"/>
          </a:xfrm>
          <a:prstGeom prst="rect">
            <a:avLst/>
          </a:prstGeom>
          <a:noFill/>
          <a:ln/>
        </p:spPr>
        <p:txBody>
          <a:bodyPr wrap="square" rtlCol="0" anchor="ctr"/>
          <a:lstStyle/>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Price-protect high manufacturing cost products (&gt;₹100/unit)</a:t>
            </a:r>
            <a:endParaRPr lang="en-US" sz="1100" dirty="0"/>
          </a:p>
          <a:p>
            <a:pPr marL="342900" indent="-342900">
              <a:spcAft>
                <a:spcPts val="800"/>
              </a:spcAft>
              <a:buSzPct val="100000"/>
              <a:buChar char="•"/>
            </a:pPr>
            <a:r>
              <a:rPr lang="en-US" sz="1100" dirty="0">
                <a:solidFill>
                  <a:srgbClr val="1A2233"/>
                </a:solidFill>
                <a:latin typeface="Calibri" pitchFamily="34" charset="0"/>
                <a:ea typeface="Calibri" pitchFamily="34" charset="-122"/>
                <a:cs typeface="Calibri" pitchFamily="34" charset="-120"/>
              </a:rPr>
              <a:t>Apply value engineering review on mid-tier products to expand gross margins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6B"/>
          </a:solidFill>
          <a:ln w="12700">
            <a:solidFill>
              <a:srgbClr val="1B3A6B"/>
            </a:solidFill>
            <a:prstDash val="solid"/>
          </a:ln>
        </p:spPr>
      </p:sp>
      <p:sp>
        <p:nvSpPr>
          <p:cNvPr id="3" name="Shape 1"/>
          <p:cNvSpPr/>
          <p:nvPr/>
        </p:nvSpPr>
        <p:spPr>
          <a:xfrm>
            <a:off x="0" y="749808"/>
            <a:ext cx="9144000" cy="50292"/>
          </a:xfrm>
          <a:prstGeom prst="rect">
            <a:avLst/>
          </a:prstGeom>
          <a:solidFill>
            <a:srgbClr val="1B6CA8"/>
          </a:solidFill>
          <a:ln w="12700">
            <a:solidFill>
              <a:srgbClr val="1B6CA8"/>
            </a:solidFill>
            <a:prstDash val="solid"/>
          </a:ln>
        </p:spPr>
      </p:sp>
      <p:sp>
        <p:nvSpPr>
          <p:cNvPr id="4" name="Text 2"/>
          <p:cNvSpPr/>
          <p:nvPr/>
        </p:nvSpPr>
        <p:spPr>
          <a:xfrm>
            <a:off x="365760" y="73152"/>
            <a:ext cx="7772400" cy="420624"/>
          </a:xfrm>
          <a:prstGeom prst="rect">
            <a:avLst/>
          </a:prstGeom>
          <a:noFill/>
          <a:ln/>
        </p:spPr>
        <p:txBody>
          <a:bodyPr wrap="square"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Technical Skills Demonstrated</a:t>
            </a:r>
            <a:endParaRPr lang="en-US" sz="2100" dirty="0"/>
          </a:p>
        </p:txBody>
      </p:sp>
      <p:sp>
        <p:nvSpPr>
          <p:cNvPr id="5" name="Text 3"/>
          <p:cNvSpPr/>
          <p:nvPr/>
        </p:nvSpPr>
        <p:spPr>
          <a:xfrm>
            <a:off x="365760" y="475488"/>
            <a:ext cx="8229600" cy="256032"/>
          </a:xfrm>
          <a:prstGeom prst="rect">
            <a:avLst/>
          </a:prstGeom>
          <a:noFill/>
          <a:ln/>
        </p:spPr>
        <p:txBody>
          <a:bodyPr wrap="square" rtlCol="0" anchor="ctr"/>
          <a:lstStyle/>
          <a:p>
            <a:pPr marL="0" indent="0">
              <a:buNone/>
            </a:pPr>
            <a:r>
              <a:rPr lang="en-US" sz="1100" i="1" dirty="0">
                <a:solidFill>
                  <a:schemeClr val="bg1"/>
                </a:solidFill>
                <a:latin typeface="Calibri" pitchFamily="34" charset="0"/>
                <a:ea typeface="Calibri" pitchFamily="34" charset="-122"/>
                <a:cs typeface="Calibri" pitchFamily="34" charset="-120"/>
              </a:rPr>
              <a:t>SQL &amp; Data Analysis Capabilities</a:t>
            </a:r>
            <a:endParaRPr lang="en-US" sz="1100" dirty="0">
              <a:solidFill>
                <a:schemeClr val="bg1"/>
              </a:solidFill>
            </a:endParaRPr>
          </a:p>
        </p:txBody>
      </p:sp>
      <p:sp>
        <p:nvSpPr>
          <p:cNvPr id="6" name="Shape 4"/>
          <p:cNvSpPr/>
          <p:nvPr/>
        </p:nvSpPr>
        <p:spPr>
          <a:xfrm>
            <a:off x="320040" y="960120"/>
            <a:ext cx="4206240" cy="199339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7" name="Shape 5"/>
          <p:cNvSpPr/>
          <p:nvPr/>
        </p:nvSpPr>
        <p:spPr>
          <a:xfrm>
            <a:off x="320040" y="960120"/>
            <a:ext cx="4206240" cy="64008"/>
          </a:xfrm>
          <a:prstGeom prst="rect">
            <a:avLst/>
          </a:prstGeom>
          <a:solidFill>
            <a:srgbClr val="1B6CA8"/>
          </a:solidFill>
          <a:ln w="12700">
            <a:solidFill>
              <a:srgbClr val="1B6CA8"/>
            </a:solidFill>
            <a:prstDash val="solid"/>
          </a:ln>
        </p:spPr>
      </p:sp>
      <p:sp>
        <p:nvSpPr>
          <p:cNvPr id="8" name="Text 6"/>
          <p:cNvSpPr/>
          <p:nvPr/>
        </p:nvSpPr>
        <p:spPr>
          <a:xfrm>
            <a:off x="457200" y="1069848"/>
            <a:ext cx="3840480" cy="292608"/>
          </a:xfrm>
          <a:prstGeom prst="rect">
            <a:avLst/>
          </a:prstGeom>
          <a:noFill/>
          <a:ln/>
        </p:spPr>
        <p:txBody>
          <a:bodyPr wrap="square" rtlCol="0" anchor="ctr"/>
          <a:lstStyle/>
          <a:p>
            <a:pPr marL="0" indent="0">
              <a:buNone/>
            </a:pPr>
            <a:r>
              <a:rPr lang="en-US" sz="1400" b="1" dirty="0">
                <a:solidFill>
                  <a:srgbClr val="1B6CA8"/>
                </a:solidFill>
                <a:latin typeface="Calibri" pitchFamily="34" charset="0"/>
                <a:ea typeface="Calibri" pitchFamily="34" charset="-122"/>
                <a:cs typeface="Calibri" pitchFamily="34" charset="-120"/>
              </a:rPr>
              <a:t>SQL / MySQL</a:t>
            </a:r>
            <a:endParaRPr lang="en-US" sz="1400" dirty="0"/>
          </a:p>
        </p:txBody>
      </p:sp>
      <p:sp>
        <p:nvSpPr>
          <p:cNvPr id="9" name="Text 7"/>
          <p:cNvSpPr/>
          <p:nvPr/>
        </p:nvSpPr>
        <p:spPr>
          <a:xfrm>
            <a:off x="457200" y="1417320"/>
            <a:ext cx="3840480" cy="1463040"/>
          </a:xfrm>
          <a:prstGeom prst="rect">
            <a:avLst/>
          </a:prstGeom>
          <a:noFill/>
          <a:ln/>
        </p:spPr>
        <p:txBody>
          <a:bodyPr wrap="square" rtlCol="0" anchor="ctr"/>
          <a:lstStyle/>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Complex JOINs (INNER, LEFT, multiple tables)</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Common Table Expressions (CTEs)</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Window Functions (RANK, ROW_NUMBER, OVER)</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Aggregations (SUM, COUNT, AVG, ROUND)</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Subqueries &amp; Derived Tables</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CASE expressions &amp; conditional logic</a:t>
            </a:r>
            <a:endParaRPr lang="en-US" sz="1000" dirty="0"/>
          </a:p>
        </p:txBody>
      </p:sp>
      <p:sp>
        <p:nvSpPr>
          <p:cNvPr id="10" name="Shape 8"/>
          <p:cNvSpPr/>
          <p:nvPr/>
        </p:nvSpPr>
        <p:spPr>
          <a:xfrm>
            <a:off x="4754880" y="960120"/>
            <a:ext cx="4206240" cy="199339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1" name="Shape 9"/>
          <p:cNvSpPr/>
          <p:nvPr/>
        </p:nvSpPr>
        <p:spPr>
          <a:xfrm>
            <a:off x="4754880" y="960120"/>
            <a:ext cx="4206240" cy="64008"/>
          </a:xfrm>
          <a:prstGeom prst="rect">
            <a:avLst/>
          </a:prstGeom>
          <a:solidFill>
            <a:srgbClr val="1E8A5E"/>
          </a:solidFill>
          <a:ln w="12700">
            <a:solidFill>
              <a:srgbClr val="1E8A5E"/>
            </a:solidFill>
            <a:prstDash val="solid"/>
          </a:ln>
        </p:spPr>
      </p:sp>
      <p:sp>
        <p:nvSpPr>
          <p:cNvPr id="12" name="Text 10"/>
          <p:cNvSpPr/>
          <p:nvPr/>
        </p:nvSpPr>
        <p:spPr>
          <a:xfrm>
            <a:off x="4892040" y="1069848"/>
            <a:ext cx="3840480" cy="292608"/>
          </a:xfrm>
          <a:prstGeom prst="rect">
            <a:avLst/>
          </a:prstGeom>
          <a:noFill/>
          <a:ln/>
        </p:spPr>
        <p:txBody>
          <a:bodyPr wrap="square" rtlCol="0" anchor="ctr"/>
          <a:lstStyle/>
          <a:p>
            <a:pPr marL="0" indent="0">
              <a:buNone/>
            </a:pPr>
            <a:r>
              <a:rPr lang="en-US" sz="1400" b="1" dirty="0">
                <a:solidFill>
                  <a:srgbClr val="1E8A5E"/>
                </a:solidFill>
                <a:latin typeface="Calibri" pitchFamily="34" charset="0"/>
                <a:ea typeface="Calibri" pitchFamily="34" charset="-122"/>
                <a:cs typeface="Calibri" pitchFamily="34" charset="-120"/>
              </a:rPr>
              <a:t>Data Analysis</a:t>
            </a:r>
            <a:endParaRPr lang="en-US" sz="1400" dirty="0"/>
          </a:p>
        </p:txBody>
      </p:sp>
      <p:sp>
        <p:nvSpPr>
          <p:cNvPr id="13" name="Text 11"/>
          <p:cNvSpPr/>
          <p:nvPr/>
        </p:nvSpPr>
        <p:spPr>
          <a:xfrm>
            <a:off x="4892040" y="1417320"/>
            <a:ext cx="3840480" cy="1463040"/>
          </a:xfrm>
          <a:prstGeom prst="rect">
            <a:avLst/>
          </a:prstGeom>
          <a:noFill/>
          <a:ln/>
        </p:spPr>
        <p:txBody>
          <a:bodyPr wrap="square" rtlCol="0" anchor="ctr"/>
          <a:lstStyle/>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Business KPI Definition &amp; Calculation</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Fiscal Year Logic (Sep–Aug convention)</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Market &amp; Segment Profiling</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Year-over-Year Comparative Analysis</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Distribution &amp; Concentration Analysis</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Outlier Identification (MAX/MIN patterns)</a:t>
            </a:r>
            <a:endParaRPr lang="en-US" sz="1000" dirty="0"/>
          </a:p>
        </p:txBody>
      </p:sp>
      <p:sp>
        <p:nvSpPr>
          <p:cNvPr id="14" name="Shape 12"/>
          <p:cNvSpPr/>
          <p:nvPr/>
        </p:nvSpPr>
        <p:spPr>
          <a:xfrm>
            <a:off x="320040" y="3081528"/>
            <a:ext cx="4206240" cy="199339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5" name="Shape 13"/>
          <p:cNvSpPr/>
          <p:nvPr/>
        </p:nvSpPr>
        <p:spPr>
          <a:xfrm>
            <a:off x="320040" y="3081528"/>
            <a:ext cx="4206240" cy="64008"/>
          </a:xfrm>
          <a:prstGeom prst="rect">
            <a:avLst/>
          </a:prstGeom>
          <a:solidFill>
            <a:srgbClr val="D4860B"/>
          </a:solidFill>
          <a:ln w="12700">
            <a:solidFill>
              <a:srgbClr val="D4860B"/>
            </a:solidFill>
            <a:prstDash val="solid"/>
          </a:ln>
        </p:spPr>
      </p:sp>
      <p:sp>
        <p:nvSpPr>
          <p:cNvPr id="16" name="Text 14"/>
          <p:cNvSpPr/>
          <p:nvPr/>
        </p:nvSpPr>
        <p:spPr>
          <a:xfrm>
            <a:off x="457200" y="3191256"/>
            <a:ext cx="3840480" cy="292608"/>
          </a:xfrm>
          <a:prstGeom prst="rect">
            <a:avLst/>
          </a:prstGeom>
          <a:noFill/>
          <a:ln/>
        </p:spPr>
        <p:txBody>
          <a:bodyPr wrap="square" rtlCol="0" anchor="ctr"/>
          <a:lstStyle/>
          <a:p>
            <a:pPr marL="0" indent="0">
              <a:buNone/>
            </a:pPr>
            <a:r>
              <a:rPr lang="en-US" sz="1400" b="1" dirty="0">
                <a:solidFill>
                  <a:srgbClr val="D4860B"/>
                </a:solidFill>
                <a:latin typeface="Calibri" pitchFamily="34" charset="0"/>
                <a:ea typeface="Calibri" pitchFamily="34" charset="-122"/>
                <a:cs typeface="Calibri" pitchFamily="34" charset="-120"/>
              </a:rPr>
              <a:t>SQL Query Design</a:t>
            </a:r>
            <a:endParaRPr lang="en-US" sz="1400" dirty="0"/>
          </a:p>
        </p:txBody>
      </p:sp>
      <p:sp>
        <p:nvSpPr>
          <p:cNvPr id="17" name="Text 15"/>
          <p:cNvSpPr/>
          <p:nvPr/>
        </p:nvSpPr>
        <p:spPr>
          <a:xfrm>
            <a:off x="457200" y="3538728"/>
            <a:ext cx="3840480" cy="1463040"/>
          </a:xfrm>
          <a:prstGeom prst="rect">
            <a:avLst/>
          </a:prstGeom>
          <a:noFill/>
          <a:ln/>
        </p:spPr>
        <p:txBody>
          <a:bodyPr wrap="square" rtlCol="0" anchor="ctr"/>
          <a:lstStyle/>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Query optimisation for large datasets</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Readable, well-commented SQL code</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Multi-step CTE chaining</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Ranking with PARTITION BY</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Set operations (UNION)</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Percentage contribution calculations</a:t>
            </a:r>
            <a:endParaRPr lang="en-US" sz="1000" dirty="0"/>
          </a:p>
        </p:txBody>
      </p:sp>
      <p:sp>
        <p:nvSpPr>
          <p:cNvPr id="18" name="Shape 16"/>
          <p:cNvSpPr/>
          <p:nvPr/>
        </p:nvSpPr>
        <p:spPr>
          <a:xfrm>
            <a:off x="4754880" y="3081528"/>
            <a:ext cx="4206240" cy="1993392"/>
          </a:xfrm>
          <a:prstGeom prst="rect">
            <a:avLst/>
          </a:prstGeom>
          <a:solidFill>
            <a:srgbClr val="FFFFFF"/>
          </a:solidFill>
          <a:ln w="7620">
            <a:solidFill>
              <a:srgbClr val="D0DCF0"/>
            </a:solidFill>
            <a:prstDash val="solid"/>
          </a:ln>
          <a:effectLst>
            <a:outerShdw blurRad="76200" dist="25400" dir="2700000" algn="bl" rotWithShape="0">
              <a:srgbClr val="9BB0CC">
                <a:alpha val="22000"/>
              </a:srgbClr>
            </a:outerShdw>
          </a:effectLst>
        </p:spPr>
      </p:sp>
      <p:sp>
        <p:nvSpPr>
          <p:cNvPr id="19" name="Shape 17"/>
          <p:cNvSpPr/>
          <p:nvPr/>
        </p:nvSpPr>
        <p:spPr>
          <a:xfrm>
            <a:off x="4754880" y="3081528"/>
            <a:ext cx="4206240" cy="64008"/>
          </a:xfrm>
          <a:prstGeom prst="rect">
            <a:avLst/>
          </a:prstGeom>
          <a:solidFill>
            <a:srgbClr val="7B4FC9"/>
          </a:solidFill>
          <a:ln w="12700">
            <a:solidFill>
              <a:srgbClr val="7B4FC9"/>
            </a:solidFill>
            <a:prstDash val="solid"/>
          </a:ln>
        </p:spPr>
      </p:sp>
      <p:sp>
        <p:nvSpPr>
          <p:cNvPr id="20" name="Text 18"/>
          <p:cNvSpPr/>
          <p:nvPr/>
        </p:nvSpPr>
        <p:spPr>
          <a:xfrm>
            <a:off x="4892040" y="3191256"/>
            <a:ext cx="3840480" cy="292608"/>
          </a:xfrm>
          <a:prstGeom prst="rect">
            <a:avLst/>
          </a:prstGeom>
          <a:noFill/>
          <a:ln/>
        </p:spPr>
        <p:txBody>
          <a:bodyPr wrap="square" rtlCol="0" anchor="ctr"/>
          <a:lstStyle/>
          <a:p>
            <a:pPr marL="0" indent="0">
              <a:buNone/>
            </a:pPr>
            <a:r>
              <a:rPr lang="en-US" sz="1400" b="1" dirty="0">
                <a:solidFill>
                  <a:srgbClr val="7B4FC9"/>
                </a:solidFill>
                <a:latin typeface="Calibri" pitchFamily="34" charset="0"/>
                <a:ea typeface="Calibri" pitchFamily="34" charset="-122"/>
                <a:cs typeface="Calibri" pitchFamily="34" charset="-120"/>
              </a:rPr>
              <a:t>Business Communication</a:t>
            </a:r>
            <a:endParaRPr lang="en-US" sz="1400" dirty="0"/>
          </a:p>
        </p:txBody>
      </p:sp>
      <p:sp>
        <p:nvSpPr>
          <p:cNvPr id="21" name="Text 19"/>
          <p:cNvSpPr/>
          <p:nvPr/>
        </p:nvSpPr>
        <p:spPr>
          <a:xfrm>
            <a:off x="4892040" y="3538728"/>
            <a:ext cx="3840480" cy="1463040"/>
          </a:xfrm>
          <a:prstGeom prst="rect">
            <a:avLst/>
          </a:prstGeom>
          <a:noFill/>
          <a:ln/>
        </p:spPr>
        <p:txBody>
          <a:bodyPr wrap="square" rtlCol="0" anchor="ctr"/>
          <a:lstStyle/>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Executive-level insight translation</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Insight-to-Recommendation framework</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Consulting-style presentation structure</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Management-level reporting</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Stakeholder communication</a:t>
            </a:r>
            <a:endParaRPr lang="en-US" sz="1000" dirty="0"/>
          </a:p>
          <a:p>
            <a:pPr marL="342900" indent="-342900">
              <a:spcAft>
                <a:spcPts val="200"/>
              </a:spcAft>
              <a:buSzPct val="100000"/>
              <a:buChar char="•"/>
            </a:pPr>
            <a:r>
              <a:rPr lang="en-US" sz="1000" dirty="0">
                <a:solidFill>
                  <a:srgbClr val="1A2233"/>
                </a:solidFill>
                <a:latin typeface="Calibri" pitchFamily="34" charset="0"/>
                <a:ea typeface="Calibri" pitchFamily="34" charset="-122"/>
                <a:cs typeface="Calibri" pitchFamily="34" charset="-120"/>
              </a:rPr>
              <a:t>Business impact quantification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8072"/>
          </a:xfrm>
          <a:prstGeom prst="rect">
            <a:avLst/>
          </a:prstGeom>
          <a:solidFill>
            <a:srgbClr val="1B3A6B"/>
          </a:solidFill>
          <a:ln w="12700">
            <a:solidFill>
              <a:srgbClr val="1B3A6B"/>
            </a:solidFill>
            <a:prstDash val="solid"/>
          </a:ln>
        </p:spPr>
      </p:sp>
      <p:sp>
        <p:nvSpPr>
          <p:cNvPr id="3" name="Shape 1"/>
          <p:cNvSpPr/>
          <p:nvPr/>
        </p:nvSpPr>
        <p:spPr>
          <a:xfrm>
            <a:off x="0" y="4754880"/>
            <a:ext cx="4572000" cy="393192"/>
          </a:xfrm>
          <a:prstGeom prst="rect">
            <a:avLst/>
          </a:prstGeom>
          <a:solidFill>
            <a:srgbClr val="1B6CA8"/>
          </a:solidFill>
          <a:ln w="12700">
            <a:solidFill>
              <a:srgbClr val="1B6CA8"/>
            </a:solidFill>
            <a:prstDash val="solid"/>
          </a:ln>
        </p:spPr>
      </p:sp>
      <p:sp>
        <p:nvSpPr>
          <p:cNvPr id="4" name="Text 2"/>
          <p:cNvSpPr/>
          <p:nvPr/>
        </p:nvSpPr>
        <p:spPr>
          <a:xfrm>
            <a:off x="365760" y="685800"/>
            <a:ext cx="3931920" cy="6858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5" name="Text 3"/>
          <p:cNvSpPr/>
          <p:nvPr/>
        </p:nvSpPr>
        <p:spPr>
          <a:xfrm>
            <a:off x="365760" y="1417320"/>
            <a:ext cx="3931920" cy="347472"/>
          </a:xfrm>
          <a:prstGeom prst="rect">
            <a:avLst/>
          </a:prstGeom>
          <a:noFill/>
          <a:ln/>
        </p:spPr>
        <p:txBody>
          <a:bodyPr wrap="square" rtlCol="0" anchor="ctr"/>
          <a:lstStyle/>
          <a:p>
            <a:pPr marL="0" indent="0">
              <a:buNone/>
            </a:pPr>
            <a:r>
              <a:rPr lang="en-US" sz="1400" i="1" dirty="0">
                <a:solidFill>
                  <a:srgbClr val="6BBFEA"/>
                </a:solidFill>
                <a:latin typeface="Calibri" pitchFamily="34" charset="0"/>
                <a:ea typeface="Calibri" pitchFamily="34" charset="-122"/>
                <a:cs typeface="Calibri" pitchFamily="34" charset="-120"/>
              </a:rPr>
              <a:t>AtliQ Hardware SQL Challenge</a:t>
            </a:r>
            <a:endParaRPr lang="en-US" sz="1400" dirty="0"/>
          </a:p>
        </p:txBody>
      </p:sp>
      <p:sp>
        <p:nvSpPr>
          <p:cNvPr id="6" name="Shape 4"/>
          <p:cNvSpPr/>
          <p:nvPr/>
        </p:nvSpPr>
        <p:spPr>
          <a:xfrm>
            <a:off x="365760" y="1874520"/>
            <a:ext cx="3200400" cy="36576"/>
          </a:xfrm>
          <a:prstGeom prst="rect">
            <a:avLst/>
          </a:prstGeom>
          <a:solidFill>
            <a:srgbClr val="3A5A80"/>
          </a:solidFill>
          <a:ln w="12700">
            <a:solidFill>
              <a:srgbClr val="3A5A80"/>
            </a:solidFill>
            <a:prstDash val="solid"/>
          </a:ln>
        </p:spPr>
      </p:sp>
      <p:sp>
        <p:nvSpPr>
          <p:cNvPr id="7" name="Text 5"/>
          <p:cNvSpPr/>
          <p:nvPr/>
        </p:nvSpPr>
        <p:spPr>
          <a:xfrm>
            <a:off x="365760" y="2011680"/>
            <a:ext cx="3840480" cy="237744"/>
          </a:xfrm>
          <a:prstGeom prst="rect">
            <a:avLst/>
          </a:prstGeom>
          <a:noFill/>
          <a:ln/>
        </p:spPr>
        <p:txBody>
          <a:bodyPr wrap="square" rtlCol="0" anchor="ctr"/>
          <a:lstStyle/>
          <a:p>
            <a:pPr marL="0" indent="0">
              <a:buNone/>
            </a:pPr>
            <a:r>
              <a:rPr lang="en-US" sz="850" b="1" kern="0" spc="150" dirty="0">
                <a:solidFill>
                  <a:srgbClr val="B8C8E4"/>
                </a:solidFill>
                <a:latin typeface="Calibri" pitchFamily="34" charset="0"/>
                <a:ea typeface="Calibri" pitchFamily="34" charset="-122"/>
                <a:cs typeface="Calibri" pitchFamily="34" charset="-120"/>
              </a:rPr>
              <a:t>KEY LEARNING OUTCOMES</a:t>
            </a:r>
            <a:endParaRPr lang="en-US" sz="850" dirty="0"/>
          </a:p>
        </p:txBody>
      </p:sp>
      <p:sp>
        <p:nvSpPr>
          <p:cNvPr id="8" name="Text 6"/>
          <p:cNvSpPr/>
          <p:nvPr/>
        </p:nvSpPr>
        <p:spPr>
          <a:xfrm>
            <a:off x="365760" y="2286000"/>
            <a:ext cx="3931920" cy="2103120"/>
          </a:xfrm>
          <a:prstGeom prst="rect">
            <a:avLst/>
          </a:prstGeom>
          <a:noFill/>
          <a:ln/>
        </p:spPr>
        <p:txBody>
          <a:bodyPr wrap="square" rtlCol="0" anchor="ctr"/>
          <a:lstStyle/>
          <a:p>
            <a:pPr marL="342900" indent="-342900">
              <a:spcAft>
                <a:spcPts val="500"/>
              </a:spcAft>
              <a:buSzPct val="100000"/>
              <a:buChar char="•"/>
            </a:pPr>
            <a:r>
              <a:rPr lang="en-US" sz="1000" dirty="0">
                <a:solidFill>
                  <a:srgbClr val="CBD5E1"/>
                </a:solidFill>
                <a:latin typeface="Calibri" pitchFamily="34" charset="0"/>
                <a:ea typeface="Calibri" pitchFamily="34" charset="-122"/>
                <a:cs typeface="Calibri" pitchFamily="34" charset="-120"/>
              </a:rPr>
              <a:t>Translated 10 business requests into actionable SQL queries</a:t>
            </a:r>
            <a:endParaRPr lang="en-US" sz="1000" dirty="0"/>
          </a:p>
          <a:p>
            <a:pPr marL="342900" indent="-342900">
              <a:spcAft>
                <a:spcPts val="500"/>
              </a:spcAft>
              <a:buSzPct val="100000"/>
              <a:buChar char="•"/>
            </a:pPr>
            <a:r>
              <a:rPr lang="en-US" sz="1000" dirty="0">
                <a:solidFill>
                  <a:srgbClr val="CBD5E1"/>
                </a:solidFill>
                <a:latin typeface="Calibri" pitchFamily="34" charset="0"/>
                <a:ea typeface="Calibri" pitchFamily="34" charset="-122"/>
                <a:cs typeface="Calibri" pitchFamily="34" charset="-120"/>
              </a:rPr>
              <a:t>Identified ₹500M+ revenue patterns and margin risks</a:t>
            </a:r>
            <a:endParaRPr lang="en-US" sz="1000" dirty="0"/>
          </a:p>
          <a:p>
            <a:pPr marL="342900" indent="-342900">
              <a:spcAft>
                <a:spcPts val="500"/>
              </a:spcAft>
              <a:buSzPct val="100000"/>
              <a:buChar char="•"/>
            </a:pPr>
            <a:r>
              <a:rPr lang="en-US" sz="1000" dirty="0">
                <a:solidFill>
                  <a:srgbClr val="CBD5E1"/>
                </a:solidFill>
                <a:latin typeface="Calibri" pitchFamily="34" charset="0"/>
                <a:ea typeface="Calibri" pitchFamily="34" charset="-122"/>
                <a:cs typeface="Calibri" pitchFamily="34" charset="-120"/>
              </a:rPr>
              <a:t>Developed strategic recommendations tied to data evidence</a:t>
            </a:r>
            <a:endParaRPr lang="en-US" sz="1000" dirty="0"/>
          </a:p>
          <a:p>
            <a:pPr marL="342900" indent="-342900">
              <a:spcAft>
                <a:spcPts val="500"/>
              </a:spcAft>
              <a:buSzPct val="100000"/>
              <a:buChar char="•"/>
            </a:pPr>
            <a:r>
              <a:rPr lang="en-US" sz="1000" dirty="0">
                <a:solidFill>
                  <a:srgbClr val="CBD5E1"/>
                </a:solidFill>
                <a:latin typeface="Calibri" pitchFamily="34" charset="0"/>
                <a:ea typeface="Calibri" pitchFamily="34" charset="-122"/>
                <a:cs typeface="Calibri" pitchFamily="34" charset="-120"/>
              </a:rPr>
              <a:t>Demonstrated end-to-end: data → SQL → insight → decision</a:t>
            </a:r>
            <a:endParaRPr lang="en-US" sz="1000" dirty="0"/>
          </a:p>
          <a:p>
            <a:pPr marL="342900" indent="-342900">
              <a:spcAft>
                <a:spcPts val="500"/>
              </a:spcAft>
              <a:buSzPct val="100000"/>
              <a:buChar char="•"/>
            </a:pPr>
            <a:r>
              <a:rPr lang="en-US" sz="1000" dirty="0">
                <a:solidFill>
                  <a:srgbClr val="CBD5E1"/>
                </a:solidFill>
                <a:latin typeface="Calibri" pitchFamily="34" charset="0"/>
                <a:ea typeface="Calibri" pitchFamily="34" charset="-122"/>
                <a:cs typeface="Calibri" pitchFamily="34" charset="-120"/>
              </a:rPr>
              <a:t>Delivered executive-level consulting-style presentation</a:t>
            </a:r>
            <a:endParaRPr lang="en-US" sz="1000" dirty="0"/>
          </a:p>
        </p:txBody>
      </p:sp>
      <p:sp>
        <p:nvSpPr>
          <p:cNvPr id="10" name="Text 8"/>
          <p:cNvSpPr/>
          <p:nvPr/>
        </p:nvSpPr>
        <p:spPr>
          <a:xfrm>
            <a:off x="5029200" y="502920"/>
            <a:ext cx="3474720" cy="256032"/>
          </a:xfrm>
          <a:prstGeom prst="rect">
            <a:avLst/>
          </a:prstGeom>
          <a:noFill/>
          <a:ln/>
        </p:spPr>
        <p:txBody>
          <a:bodyPr wrap="square" rtlCol="0" anchor="ctr"/>
          <a:lstStyle/>
          <a:p>
            <a:pPr marL="0" indent="0">
              <a:buNone/>
            </a:pPr>
            <a:r>
              <a:rPr lang="en-US" sz="900" b="1" kern="0" spc="150" dirty="0">
                <a:solidFill>
                  <a:srgbClr val="1B6CA8"/>
                </a:solidFill>
                <a:latin typeface="Calibri" pitchFamily="34" charset="0"/>
                <a:ea typeface="Calibri" pitchFamily="34" charset="-122"/>
                <a:cs typeface="Calibri" pitchFamily="34" charset="-120"/>
              </a:rPr>
              <a:t>CONTACT</a:t>
            </a:r>
            <a:endParaRPr lang="en-US" sz="900" dirty="0"/>
          </a:p>
        </p:txBody>
      </p:sp>
      <p:sp>
        <p:nvSpPr>
          <p:cNvPr id="11" name="Text 9"/>
          <p:cNvSpPr/>
          <p:nvPr/>
        </p:nvSpPr>
        <p:spPr>
          <a:xfrm>
            <a:off x="5029200" y="822960"/>
            <a:ext cx="3474720" cy="438912"/>
          </a:xfrm>
          <a:prstGeom prst="rect">
            <a:avLst/>
          </a:prstGeom>
          <a:noFill/>
          <a:ln/>
        </p:spPr>
        <p:txBody>
          <a:bodyPr wrap="square" rtlCol="0" anchor="ctr"/>
          <a:lstStyle/>
          <a:p>
            <a:pPr marL="0" indent="0">
              <a:buNone/>
            </a:pPr>
            <a:r>
              <a:rPr lang="en-US" sz="2200" b="1" dirty="0">
                <a:solidFill>
                  <a:srgbClr val="1A2233"/>
                </a:solidFill>
                <a:latin typeface="Calibri" pitchFamily="34" charset="0"/>
                <a:ea typeface="Calibri" pitchFamily="34" charset="-122"/>
                <a:cs typeface="Calibri" pitchFamily="34" charset="-120"/>
              </a:rPr>
              <a:t>Mohit Chauhan</a:t>
            </a:r>
            <a:endParaRPr lang="en-US" sz="2200" dirty="0"/>
          </a:p>
        </p:txBody>
      </p:sp>
      <p:sp>
        <p:nvSpPr>
          <p:cNvPr id="12" name="Text 10"/>
          <p:cNvSpPr/>
          <p:nvPr/>
        </p:nvSpPr>
        <p:spPr>
          <a:xfrm>
            <a:off x="5029200" y="1280160"/>
            <a:ext cx="3474720" cy="256032"/>
          </a:xfrm>
          <a:prstGeom prst="rect">
            <a:avLst/>
          </a:prstGeom>
          <a:noFill/>
          <a:ln/>
        </p:spPr>
        <p:txBody>
          <a:bodyPr wrap="square" rtlCol="0" anchor="ctr"/>
          <a:lstStyle/>
          <a:p>
            <a:r>
              <a:rPr lang="en-US" sz="1000" dirty="0"/>
              <a:t>Turning SQL into Strategic Decisions.</a:t>
            </a:r>
          </a:p>
        </p:txBody>
      </p:sp>
      <p:sp>
        <p:nvSpPr>
          <p:cNvPr id="13" name="Shape 11"/>
          <p:cNvSpPr/>
          <p:nvPr/>
        </p:nvSpPr>
        <p:spPr>
          <a:xfrm>
            <a:off x="5029200" y="1627632"/>
            <a:ext cx="3200400" cy="27432"/>
          </a:xfrm>
          <a:prstGeom prst="rect">
            <a:avLst/>
          </a:prstGeom>
          <a:solidFill>
            <a:srgbClr val="D0DCF0"/>
          </a:solidFill>
          <a:ln w="12700">
            <a:solidFill>
              <a:srgbClr val="D0DCF0"/>
            </a:solidFill>
            <a:prstDash val="solid"/>
          </a:ln>
        </p:spPr>
      </p:sp>
      <p:sp>
        <p:nvSpPr>
          <p:cNvPr id="14" name="Text 12"/>
          <p:cNvSpPr/>
          <p:nvPr/>
        </p:nvSpPr>
        <p:spPr>
          <a:xfrm>
            <a:off x="5029200" y="1783080"/>
            <a:ext cx="3474720" cy="274320"/>
          </a:xfrm>
          <a:prstGeom prst="rect">
            <a:avLst/>
          </a:prstGeom>
          <a:noFill/>
          <a:ln/>
        </p:spPr>
        <p:txBody>
          <a:bodyPr wrap="square"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LinkedIn: </a:t>
            </a:r>
            <a:r>
              <a:rPr lang="en-US" sz="1000" b="1" dirty="0">
                <a:solidFill>
                  <a:srgbClr val="1B6CA8"/>
                </a:solidFill>
                <a:latin typeface="Calibri" pitchFamily="34" charset="0"/>
                <a:ea typeface="Calibri" pitchFamily="34" charset="-122"/>
                <a:cs typeface="Calibri" pitchFamily="34" charset="-120"/>
                <a:hlinkClick r:id="rId3"/>
              </a:rPr>
              <a:t>Mohit Chauhan</a:t>
            </a:r>
            <a:r>
              <a:rPr lang="en-US" sz="1000" b="1" dirty="0">
                <a:solidFill>
                  <a:srgbClr val="1B6CA8"/>
                </a:solidFill>
                <a:latin typeface="Calibri" pitchFamily="34" charset="0"/>
                <a:ea typeface="Calibri" pitchFamily="34" charset="-122"/>
                <a:cs typeface="Calibri" pitchFamily="34" charset="-120"/>
              </a:rPr>
              <a:t> </a:t>
            </a:r>
            <a:endParaRPr lang="en-US" sz="1000" dirty="0"/>
          </a:p>
        </p:txBody>
      </p:sp>
      <p:sp>
        <p:nvSpPr>
          <p:cNvPr id="15" name="Text 13"/>
          <p:cNvSpPr/>
          <p:nvPr/>
        </p:nvSpPr>
        <p:spPr>
          <a:xfrm>
            <a:off x="5029200" y="2194560"/>
            <a:ext cx="3474720" cy="274320"/>
          </a:xfrm>
          <a:prstGeom prst="rect">
            <a:avLst/>
          </a:prstGeom>
          <a:noFill/>
          <a:ln/>
        </p:spPr>
        <p:txBody>
          <a:bodyPr wrap="square"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Portfolio: </a:t>
            </a:r>
            <a:r>
              <a:rPr lang="en-US" sz="1000" b="1" dirty="0">
                <a:solidFill>
                  <a:srgbClr val="1B6CA8"/>
                </a:solidFill>
                <a:latin typeface="Calibri" pitchFamily="34" charset="0"/>
                <a:ea typeface="Calibri" pitchFamily="34" charset="-122"/>
                <a:cs typeface="Calibri" pitchFamily="34" charset="-120"/>
                <a:hlinkClick r:id="rId4"/>
              </a:rPr>
              <a:t>My Portfolio</a:t>
            </a:r>
            <a:endParaRPr lang="en-US" sz="1000" dirty="0"/>
          </a:p>
        </p:txBody>
      </p:sp>
      <p:sp>
        <p:nvSpPr>
          <p:cNvPr id="16" name="Text 14"/>
          <p:cNvSpPr/>
          <p:nvPr/>
        </p:nvSpPr>
        <p:spPr>
          <a:xfrm>
            <a:off x="5029200" y="2606040"/>
            <a:ext cx="3474720" cy="274320"/>
          </a:xfrm>
          <a:prstGeom prst="rect">
            <a:avLst/>
          </a:prstGeom>
          <a:noFill/>
          <a:ln/>
        </p:spPr>
        <p:txBody>
          <a:bodyPr wrap="square"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Email: </a:t>
            </a:r>
            <a:r>
              <a:rPr lang="en-US" sz="1000" b="1" dirty="0">
                <a:solidFill>
                  <a:srgbClr val="3D5175"/>
                </a:solidFill>
                <a:latin typeface="Calibri" pitchFamily="34" charset="0"/>
                <a:ea typeface="Calibri" pitchFamily="34" charset="-122"/>
                <a:cs typeface="Calibri" pitchFamily="34" charset="-120"/>
              </a:rPr>
              <a:t>mbchauhan1999@gmail.com</a:t>
            </a:r>
            <a:endParaRPr lang="en-US" sz="1000" dirty="0"/>
          </a:p>
        </p:txBody>
      </p:sp>
      <p:sp>
        <p:nvSpPr>
          <p:cNvPr id="17" name="Text 15"/>
          <p:cNvSpPr/>
          <p:nvPr/>
        </p:nvSpPr>
        <p:spPr>
          <a:xfrm>
            <a:off x="5029200" y="3017520"/>
            <a:ext cx="3474720" cy="256032"/>
          </a:xfrm>
          <a:prstGeom prst="rect">
            <a:avLst/>
          </a:prstGeom>
          <a:noFill/>
          <a:ln/>
        </p:spPr>
        <p:txBody>
          <a:bodyPr wrap="square" rtlCol="0" anchor="ctr"/>
          <a:lstStyle/>
          <a:p>
            <a:pPr marL="0" indent="0">
              <a:buNone/>
            </a:pPr>
            <a:r>
              <a:rPr lang="en-US" sz="1100" b="1" i="1" dirty="0">
                <a:solidFill>
                  <a:srgbClr val="7A90B0"/>
                </a:solidFill>
                <a:latin typeface="Calibri" pitchFamily="34" charset="0"/>
                <a:ea typeface="Calibri" pitchFamily="34" charset="-122"/>
                <a:cs typeface="Calibri" pitchFamily="34" charset="-120"/>
              </a:rPr>
              <a:t>Data-Driven  ·  SQL-Powered  ·  Business-Focused</a:t>
            </a:r>
            <a:endParaRPr lang="en-US" sz="1100" b="1" i="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4853</Words>
  <Application>Microsoft Office PowerPoint</Application>
  <PresentationFormat>On-screen Show (16:9)</PresentationFormat>
  <Paragraphs>548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Hardware SQL Challenge</dc:title>
  <dc:subject>PptxGenJS Presentation</dc:subject>
  <dc:creator>Mohit Chauhan</dc:creator>
  <cp:lastModifiedBy>Mohit Chauhan</cp:lastModifiedBy>
  <cp:revision>23</cp:revision>
  <dcterms:created xsi:type="dcterms:W3CDTF">2026-06-10T08:54:05Z</dcterms:created>
  <dcterms:modified xsi:type="dcterms:W3CDTF">2026-06-10T10:18:51Z</dcterms:modified>
</cp:coreProperties>
</file>